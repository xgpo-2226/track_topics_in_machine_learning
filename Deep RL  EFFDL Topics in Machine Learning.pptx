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0"/>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Poppins Semi-Bold" charset="1" panose="00000700000000000000"/>
      <p:regular r:id="rId23"/>
    </p:embeddedFont>
    <p:embeddedFont>
      <p:font typeface="Poppins" charset="1" panose="00000500000000000000"/>
      <p:regular r:id="rId24"/>
    </p:embeddedFont>
    <p:embeddedFont>
      <p:font typeface="Comic Sans" charset="1" panose="03000702030302020204"/>
      <p:regular r:id="rId25"/>
    </p:embeddedFont>
    <p:embeddedFont>
      <p:font typeface="Comic Sans Bold" charset="1" panose="03000902030302020204"/>
      <p:regular r:id="rId26"/>
    </p:embeddedFont>
    <p:embeddedFont>
      <p:font typeface="Poppins Bold" charset="1" panose="00000800000000000000"/>
      <p:regular r:id="rId27"/>
    </p:embeddedFont>
    <p:embeddedFont>
      <p:font typeface="Public Sans Bold" charset="1" panose="00000000000000000000"/>
      <p:regular r:id="rId28"/>
    </p:embeddedFont>
    <p:embeddedFont>
      <p:font typeface="Public Sans" charset="1" panose="00000000000000000000"/>
      <p:regular r:id="rId29"/>
    </p:embeddedFont>
    <p:embeddedFont>
      <p:font typeface="DM Sans Bold" charset="1" panose="00000000000000000000"/>
      <p:regular r:id="rId33"/>
    </p:embeddedFont>
    <p:embeddedFont>
      <p:font typeface="DM Sans" charset="1" panose="00000000000000000000"/>
      <p:regular r:id="rId34"/>
    </p:embeddedFont>
    <p:embeddedFont>
      <p:font typeface="Open Sans" charset="1" panose="020B0606030504020204"/>
      <p:regular r:id="rId36"/>
    </p:embeddedFont>
    <p:embeddedFont>
      <p:font typeface="Canva Sans Bold" charset="1" panose="020B0803030501040103"/>
      <p:regular r:id="rId38"/>
    </p:embeddedFont>
    <p:embeddedFont>
      <p:font typeface="Open Sans Bold" charset="1" panose="020B0806030504020204"/>
      <p:regular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notesMasters/notesMaster1.xml" Type="http://schemas.openxmlformats.org/officeDocument/2006/relationships/notesMaster"/><Relationship Id="rId31" Target="theme/theme2.xml" Type="http://schemas.openxmlformats.org/officeDocument/2006/relationships/theme"/><Relationship Id="rId32" Target="notesSlides/notesSlide1.xml" Type="http://schemas.openxmlformats.org/officeDocument/2006/relationships/notesSlide"/><Relationship Id="rId33" Target="fonts/font33.fntdata" Type="http://schemas.openxmlformats.org/officeDocument/2006/relationships/font"/><Relationship Id="rId34" Target="fonts/font34.fntdata" Type="http://schemas.openxmlformats.org/officeDocument/2006/relationships/font"/><Relationship Id="rId35" Target="notesSlides/notesSlide2.xml" Type="http://schemas.openxmlformats.org/officeDocument/2006/relationships/notesSlide"/><Relationship Id="rId36" Target="fonts/font36.fntdata" Type="http://schemas.openxmlformats.org/officeDocument/2006/relationships/font"/><Relationship Id="rId37" Target="notesSlides/notesSlide3.xml" Type="http://schemas.openxmlformats.org/officeDocument/2006/relationships/notesSlide"/><Relationship Id="rId38" Target="fonts/font38.fntdata" Type="http://schemas.openxmlformats.org/officeDocument/2006/relationships/font"/><Relationship Id="rId39" Target="notesSlides/notesSlide4.xml" Type="http://schemas.openxmlformats.org/officeDocument/2006/relationships/notesSlide"/><Relationship Id="rId4" Target="theme/theme1.xml" Type="http://schemas.openxmlformats.org/officeDocument/2006/relationships/theme"/><Relationship Id="rId40" Target="fonts/font40.fntdata" Type="http://schemas.openxmlformats.org/officeDocument/2006/relationships/font"/><Relationship Id="rId41" Target="notesSlides/notesSlide5.xml" Type="http://schemas.openxmlformats.org/officeDocument/2006/relationships/notesSlide"/><Relationship Id="rId42" Target="notesSlides/notesSlide6.xml" Type="http://schemas.openxmlformats.org/officeDocument/2006/relationships/notesSlide"/><Relationship Id="rId43" Target="notesSlides/notesSlide7.xml" Type="http://schemas.openxmlformats.org/officeDocument/2006/relationships/notesSlide"/><Relationship Id="rId44" Target="notesSlides/notesSlide8.xml" Type="http://schemas.openxmlformats.org/officeDocument/2006/relationships/notesSlide"/><Relationship Id="rId45" Target="notesSlides/notesSlide9.xml" Type="http://schemas.openxmlformats.org/officeDocument/2006/relationships/notesSlide"/><Relationship Id="rId46" Target="notesSlides/notesSlide10.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 when it came to training a neural network ourselves we learned that there is a difference between architectural parameters (which are values learned by the model during training and adjusted depending on results from backpropogation to improve its performance  – things like the weights and biases of the connections between neurons.) And hyperparameters which are settings that we, as the developers, set before the training process even begins, controlling how the training process itself behaves; with examples including the learning rate, batch size, and the optimizer we choose.</a:t>
            </a:r>
          </a:p>
          <a:p>
            <a:r>
              <a:rPr lang="en-US"/>
              <a:t/>
            </a:r>
          </a:p>
          <a:p>
            <a:r>
              <a:rPr lang="en-US"/>
              <a:t>The rationale for exploring these hyperparameters was to learn how to best tune them to achieve the best model performance, efficiency, and training stability for the model we chose: (the PreActResNet model).</a:t>
            </a:r>
          </a:p>
          <a:p>
            <a:r>
              <a:rPr lang="en-US"/>
              <a:t/>
            </a:r>
          </a:p>
          <a:p>
            <a:r>
              <a:rPr lang="en-US"/>
              <a:t>Using a training function generated with AI, the main hyperparameters we modified were learning rate, weight decay, and momentum – which control learning speed, overfitting prevention, and learning acceleration, respectively.</a:t>
            </a:r>
          </a:p>
          <a:p>
            <a:r>
              <a:rPr lang="en-US"/>
              <a:t/>
            </a:r>
          </a:p>
          <a:p>
            <a:r>
              <a:rPr lang="en-US"/>
              <a:t>We used a trial-and-error approach, where we systematically changed each hyperparameter, one at a time, and observed the effect on performance. To save time, we initially ran short training sessions of just 5 epochs to quickly assess changes. We didn't vary layer number (as there were only 2 layers in the model we obtained); for the optimizer (we stuck to the Stochastic Decent Gradient function discussed in class), and we also didn't use a dropout parameter in this phase.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 when it came to training a neural network ourselves we learned that there is a difference between architectural parameters (which are values learned by the model during training and adjusted depending on results from backpropogation to improve its performance  – things like the weights and biases of the connections between neurons.) And hyperparameters which are settings that we, as the developers, set before the training process even begins, controlling how the training process itself behaves; with examples including the learning rate, batch size, and the optimizer we choose.</a:t>
            </a:r>
          </a:p>
          <a:p>
            <a:r>
              <a:rPr lang="en-US"/>
              <a:t/>
            </a:r>
          </a:p>
          <a:p>
            <a:r>
              <a:rPr lang="en-US"/>
              <a:t>The rationale for exploring these hyperparameters was to learn how to best tune them to achieve the best model performance, efficiency, and training stability for the model we chose: (the PreActResNet model).</a:t>
            </a:r>
          </a:p>
          <a:p>
            <a:r>
              <a:rPr lang="en-US"/>
              <a:t/>
            </a:r>
          </a:p>
          <a:p>
            <a:r>
              <a:rPr lang="en-US"/>
              <a:t>Using a training function generated with AI, the main hyperparameters we modified were learning rate, weight decay, and momentum – which control learning speed, overfitting prevention, and learning acceleration, respectively.</a:t>
            </a:r>
          </a:p>
          <a:p>
            <a:r>
              <a:rPr lang="en-US"/>
              <a:t/>
            </a:r>
          </a:p>
          <a:p>
            <a:r>
              <a:rPr lang="en-US"/>
              <a:t>We used a trial-and-error approach, where we systematically changed each hyperparameter, one at a time, and observed the effect on performance. To save time, we initially ran short training sessions of just 5 epochs to quickly assess changes. We didn't vary layer number (as there were only 2 layers in the model we obtained); for the optimizer (we stuck to the Stochastic Decent Gradient function discussed in class), and we also didn't use a dropout parameter in this phase.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 when it came to training a neural network ourselves we learned that there is a difference between architectural parameters (which are values learned by the model during training and adjusted depending on results from backpropogation to improve its performance  – things like the weights and biases of the connections between neurons.) And hyperparameters which are settings that we, as the developers, set before the training process even begins, controlling how the training process itself behaves; with examples including the learning rate, batch size, and the optimizer we choose.</a:t>
            </a:r>
          </a:p>
          <a:p>
            <a:r>
              <a:rPr lang="en-US"/>
              <a:t/>
            </a:r>
          </a:p>
          <a:p>
            <a:r>
              <a:rPr lang="en-US"/>
              <a:t>The rationale for exploring these hyperparameters was to learn how to best tune them to achieve the best model performance, efficiency, and training stability for the model we chose: (the PreActResNet model).</a:t>
            </a:r>
          </a:p>
          <a:p>
            <a:r>
              <a:rPr lang="en-US"/>
              <a:t/>
            </a:r>
          </a:p>
          <a:p>
            <a:r>
              <a:rPr lang="en-US"/>
              <a:t>Using a training function generated with AI, the main hyperparameters we modified were learning rate, weight decay, and momentum – which control learning speed, overfitting prevention, and learning acceleration, respectively.</a:t>
            </a:r>
          </a:p>
          <a:p>
            <a:r>
              <a:rPr lang="en-US"/>
              <a:t/>
            </a:r>
          </a:p>
          <a:p>
            <a:r>
              <a:rPr lang="en-US"/>
              <a:t>We used a trial-and-error approach, where we systematically changed each hyperparameter, one at a time, and observed the effect on performance. To save time, we initially ran short training sessions of just 5 epochs to quickly assess changes. We didn't vary layer number (as there were only 2 layers in the model we obtained); for the optimizer (we stuck to the Stochastic Decent Gradient function discussed in class), and we also didn't use a dropout parameter in this phase.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 when it came to training a neural network ourselves we learned that there is a difference between architectural parameters (which are values learned by the model during training and adjusted depending on results from backpropogation to improve its performance  – things like the weights and biases of the connections between neurons.) And hyperparameters which are settings that we, as the developers, set before the training process even begins, controlling how the training process itself behaves; with examples including the learning rate, batch size, and the optimizer we choose.</a:t>
            </a:r>
          </a:p>
          <a:p>
            <a:r>
              <a:rPr lang="en-US"/>
              <a:t/>
            </a:r>
          </a:p>
          <a:p>
            <a:r>
              <a:rPr lang="en-US"/>
              <a:t>The rationale for exploring these hyperparameters was to learn how to best tune them to achieve the best model performance, efficiency, and training stability for the model we chose: (the PreActResNet model).</a:t>
            </a:r>
          </a:p>
          <a:p>
            <a:r>
              <a:rPr lang="en-US"/>
              <a:t/>
            </a:r>
          </a:p>
          <a:p>
            <a:r>
              <a:rPr lang="en-US"/>
              <a:t>Using a training function generated with AI, the main hyperparameters we modified were learning rate, weight decay, and momentum – which control learning speed, overfitting prevention, and learning acceleration, respectively.</a:t>
            </a:r>
          </a:p>
          <a:p>
            <a:r>
              <a:rPr lang="en-US"/>
              <a:t/>
            </a:r>
          </a:p>
          <a:p>
            <a:r>
              <a:rPr lang="en-US"/>
              <a:t>We used a trial-and-error approach, where we systematically changed each hyperparameter, one at a time, and observed the effect on performance. To save time, we initially ran short training sessions of just 5 epochs to quickly assess changes. We didn't vary layer number (as there were only 2 layers in the model we obtained); for the optimizer (we stuck to the Stochastic Decent Gradient function discussed in class), and we also didn't use a dropout parameter in this phase.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 when it came to training a neural network ourselves we learned that there is a difference between architectural parameters (which are values learned by the model during training and adjusted depending on results from backpropogation to improve its performance  – things like the weights and biases of the connections between neurons.) And hyperparameters which are settings that we, as the developers, set before the training process even begins, controlling how the training process itself behaves; with examples including the learning rate, batch size, and the optimizer we choose.</a:t>
            </a:r>
          </a:p>
          <a:p>
            <a:r>
              <a:rPr lang="en-US"/>
              <a:t/>
            </a:r>
          </a:p>
          <a:p>
            <a:r>
              <a:rPr lang="en-US"/>
              <a:t>The rationale for exploring these hyperparameters was to learn how to best tune them to achieve the best model performance, efficiency, and training stability for the model we chose: (the PreActResNet model).</a:t>
            </a:r>
          </a:p>
          <a:p>
            <a:r>
              <a:rPr lang="en-US"/>
              <a:t/>
            </a:r>
          </a:p>
          <a:p>
            <a:r>
              <a:rPr lang="en-US"/>
              <a:t>Using a training function generated with AI, the main hyperparameters we modified were learning rate, weight decay, and momentum – which control learning speed, overfitting prevention, and learning acceleration, respectively.</a:t>
            </a:r>
          </a:p>
          <a:p>
            <a:r>
              <a:rPr lang="en-US"/>
              <a:t/>
            </a:r>
          </a:p>
          <a:p>
            <a:r>
              <a:rPr lang="en-US"/>
              <a:t>We used a trial-and-error approach, where we systematically changed each hyperparameter, one at a time, and observed the effect on performance. To save time, we initially ran short training sessions of just 5 epochs to quickly assess changes. We didn't vary layer number (as there were only 2 layers in the model we obtained); for the optimizer (we stuck to the Stochastic Decent Gradient function discussed in class), and we also didn't use a dropout parameter in this phase.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 when it came to training a neural network ourselves we learned that there is a difference between architectural parameters (which are values learned by the model during training and adjusted depending on results from backpropogation to improve its performance  – things like the weights and biases of the connections between neurons.) And hyperparameters which are settings that we, as the developers, set before the training process even begins, controlling how the training process itself behaves; with examples including the learning rate, batch size, and the optimizer we choose.</a:t>
            </a:r>
          </a:p>
          <a:p>
            <a:r>
              <a:rPr lang="en-US"/>
              <a:t/>
            </a:r>
          </a:p>
          <a:p>
            <a:r>
              <a:rPr lang="en-US"/>
              <a:t>The rationale for exploring these hyperparameters was to learn how to best tune them to achieve the best model performance, efficiency, and training stability for the model we chose: (the PreActResNet model).</a:t>
            </a:r>
          </a:p>
          <a:p>
            <a:r>
              <a:rPr lang="en-US"/>
              <a:t/>
            </a:r>
          </a:p>
          <a:p>
            <a:r>
              <a:rPr lang="en-US"/>
              <a:t>Using a training function generated with AI, the main hyperparameters we modified were learning rate, weight decay, and momentum – which control learning speed, overfitting prevention, and learning acceleration, respectively.</a:t>
            </a:r>
          </a:p>
          <a:p>
            <a:r>
              <a:rPr lang="en-US"/>
              <a:t/>
            </a:r>
          </a:p>
          <a:p>
            <a:r>
              <a:rPr lang="en-US"/>
              <a:t>We used a trial-and-error approach, where we systematically changed each hyperparameter, one at a time, and observed the effect on performance. To save time, we initially ran short training sessions of just 5 epochs to quickly assess changes. We didn't vary layer number (as there were only 2 layers in the model we obtained); for the optimizer (we stuck to the Stochastic Decent Gradient function discussed in class), and we also didn't use a dropout parameter in this phase.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 when it came to training a neural network ourselves we learned that there is a difference between architectural parameters (which are values learned by the model during training and adjusted depending on results from backpropogation to improve its performance  – things like the weights and biases of the connections between neurons.) And hyperparameters which are settings that we, as the developers, set before the training process even begins, controlling how the training process itself behaves; with examples including the learning rate, batch size, and the optimizer we choose.</a:t>
            </a:r>
          </a:p>
          <a:p>
            <a:r>
              <a:rPr lang="en-US"/>
              <a:t/>
            </a:r>
          </a:p>
          <a:p>
            <a:r>
              <a:rPr lang="en-US"/>
              <a:t>The rationale for exploring these hyperparameters was to learn how to best tune them to achieve the best model performance, efficiency, and training stability for the model we chose: (the PreActResNet model).</a:t>
            </a:r>
          </a:p>
          <a:p>
            <a:r>
              <a:rPr lang="en-US"/>
              <a:t/>
            </a:r>
          </a:p>
          <a:p>
            <a:r>
              <a:rPr lang="en-US"/>
              <a:t>Using a training function generated with AI, the main hyperparameters we modified were learning rate, weight decay, and momentum – which control learning speed, overfitting prevention, and learning acceleration, respectively.</a:t>
            </a:r>
          </a:p>
          <a:p>
            <a:r>
              <a:rPr lang="en-US"/>
              <a:t/>
            </a:r>
          </a:p>
          <a:p>
            <a:r>
              <a:rPr lang="en-US"/>
              <a:t>We used a trial-and-error approach, where we systematically changed each hyperparameter, one at a time, and observed the effect on performance. To save time, we initially ran short training sessions of just 5 epochs to quickly assess changes. We didn't vary layer number (as there were only 2 layers in the model we obtained); for the optimizer (we stuck to the Stochastic Decent Gradient function discussed in class), and we also didn't use a dropout parameter in this phase.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 when it came to training a neural network ourselves we learned that there is a difference between architectural parameters (which are values learned by the model during training and adjusted depending on results from backpropogation to improve its performance  – things like the weights and biases of the connections between neurons.) And hyperparameters which are settings that we, as the developers, set before the training process even begins, controlling how the training process itself behaves; with examples including the learning rate, batch size, and the optimizer we choose.</a:t>
            </a:r>
          </a:p>
          <a:p>
            <a:r>
              <a:rPr lang="en-US"/>
              <a:t/>
            </a:r>
          </a:p>
          <a:p>
            <a:r>
              <a:rPr lang="en-US"/>
              <a:t>The rationale for exploring these hyperparameters was to learn how to best tune them to achieve the best model performance, efficiency, and training stability for the model we chose: (the PreActResNet model).</a:t>
            </a:r>
          </a:p>
          <a:p>
            <a:r>
              <a:rPr lang="en-US"/>
              <a:t/>
            </a:r>
          </a:p>
          <a:p>
            <a:r>
              <a:rPr lang="en-US"/>
              <a:t>Using a training function generated with AI, the main hyperparameters we modified were learning rate, weight decay, and momentum – which control learning speed, overfitting prevention, and learning acceleration, respectively.</a:t>
            </a:r>
          </a:p>
          <a:p>
            <a:r>
              <a:rPr lang="en-US"/>
              <a:t/>
            </a:r>
          </a:p>
          <a:p>
            <a:r>
              <a:rPr lang="en-US"/>
              <a:t>We used a trial-and-error approach, where we systematically changed each hyperparameter, one at a time, and observed the effect on performance. To save time, we initially ran short training sessions of just 5 epochs to quickly assess changes. We didn't vary layer number (as there were only 2 layers in the model we obtained); for the optimizer (we stuck to the Stochastic Decent Gradient function discussed in class), and we also didn't use a dropout parameter in this phase.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 when it came to training a neural network ourselves we learned that there is a difference between architectural parameters (which are values learned by the model during training and adjusted depending on results from backpropogation to improve its performance  – things like the weights and biases of the connections between neurons.) And hyperparameters which are settings that we, as the developers, set before the training process even begins, controlling how the training process itself behaves; with examples including the learning rate, batch size, and the optimizer we choose.</a:t>
            </a:r>
          </a:p>
          <a:p>
            <a:r>
              <a:rPr lang="en-US"/>
              <a:t/>
            </a:r>
          </a:p>
          <a:p>
            <a:r>
              <a:rPr lang="en-US"/>
              <a:t>The rationale for exploring these hyperparameters was to learn how to best tune them to achieve the best model performance, efficiency, and training stability for the model we chose: (the PreActResNet model).</a:t>
            </a:r>
          </a:p>
          <a:p>
            <a:r>
              <a:rPr lang="en-US"/>
              <a:t/>
            </a:r>
          </a:p>
          <a:p>
            <a:r>
              <a:rPr lang="en-US"/>
              <a:t>Using a training function generated with AI, the main hyperparameters we modified were learning rate, weight decay, and momentum – which control learning speed, overfitting prevention, and learning acceleration, respectively.</a:t>
            </a:r>
          </a:p>
          <a:p>
            <a:r>
              <a:rPr lang="en-US"/>
              <a:t/>
            </a:r>
          </a:p>
          <a:p>
            <a:r>
              <a:rPr lang="en-US"/>
              <a:t>We used a trial-and-error approach, where we systematically changed each hyperparameter, one at a time, and observed the effect on performance. To save time, we initially ran short training sessions of just 5 epochs to quickly assess changes. We didn't vary layer number (as there were only 2 layers in the model we obtained); for the optimizer (we stuck to the Stochastic Decent Gradient function discussed in class), and we also didn't use a dropout parameter in this phase.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 when it came to training a neural network ourselves we learned that there is a difference between architectural parameters (which are values learned by the model during training and adjusted depending on results from backpropogation to improve its performance  – things like the weights and biases of the connections between neurons.) And hyperparameters which are settings that we, as the developers, set before the training process even begins, controlling how the training process itself behaves; with examples including the learning rate, batch size, and the optimizer we choose.</a:t>
            </a:r>
          </a:p>
          <a:p>
            <a:r>
              <a:rPr lang="en-US"/>
              <a:t/>
            </a:r>
          </a:p>
          <a:p>
            <a:r>
              <a:rPr lang="en-US"/>
              <a:t>The rationale for exploring these hyperparameters was to learn how to best tune them to achieve the best model performance, efficiency, and training stability for the model we chose: (the PreActResNet model).</a:t>
            </a:r>
          </a:p>
          <a:p>
            <a:r>
              <a:rPr lang="en-US"/>
              <a:t/>
            </a:r>
          </a:p>
          <a:p>
            <a:r>
              <a:rPr lang="en-US"/>
              <a:t>Using a training function generated with AI, the main hyperparameters we modified were learning rate, weight decay, and momentum – which control learning speed, overfitting prevention, and learning acceleration, respectively.</a:t>
            </a:r>
          </a:p>
          <a:p>
            <a:r>
              <a:rPr lang="en-US"/>
              <a:t/>
            </a:r>
          </a:p>
          <a:p>
            <a:r>
              <a:rPr lang="en-US"/>
              <a:t>We used a trial-and-error approach, where we systematically changed each hyperparameter, one at a time, and observed the effect on performance. To save time, we initially ran short training sessions of just 5 epochs to quickly assess changes. We didn't vary layer number (as there were only 2 layers in the model we obtained); for the optimizer (we stuck to the Stochastic Decent Gradient function discussed in class), and we also didn't use a dropout parameter in this phase.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VAGoqkGo6ec.mp4" Type="http://schemas.openxmlformats.org/officeDocument/2006/relationships/video"/><Relationship Id="rId4" Target="../media/VAGoqkGo6ec.mp4" Type="http://schemas.microsoft.com/office/2007/relationships/media"/><Relationship Id="rId5" Target="../media/image8.jpeg" Type="http://schemas.openxmlformats.org/officeDocument/2006/relationships/image"/><Relationship Id="rId6" Target="../media/VAGotiVhUZA.mp4" Type="http://schemas.openxmlformats.org/officeDocument/2006/relationships/video"/><Relationship Id="rId7" Target="../media/VAGotiVhUZA.mp4" Type="http://schemas.microsoft.com/office/2007/relationships/media"/></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0.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arget="../media/image1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101622" y="-767350"/>
            <a:ext cx="22013892" cy="12354774"/>
          </a:xfrm>
          <a:custGeom>
            <a:avLst/>
            <a:gdLst/>
            <a:ahLst/>
            <a:cxnLst/>
            <a:rect r="r" b="b" t="t" l="l"/>
            <a:pathLst>
              <a:path h="12354774" w="22013892">
                <a:moveTo>
                  <a:pt x="0" y="0"/>
                </a:moveTo>
                <a:lnTo>
                  <a:pt x="22013891" y="0"/>
                </a:lnTo>
                <a:lnTo>
                  <a:pt x="22013891" y="12354775"/>
                </a:lnTo>
                <a:lnTo>
                  <a:pt x="0" y="12354775"/>
                </a:lnTo>
                <a:lnTo>
                  <a:pt x="0" y="0"/>
                </a:lnTo>
                <a:close/>
              </a:path>
            </a:pathLst>
          </a:custGeom>
          <a:blipFill>
            <a:blip r:embed="rId2"/>
            <a:stretch>
              <a:fillRect l="0" t="-9467" r="0" b="-9467"/>
            </a:stretch>
          </a:blipFill>
        </p:spPr>
      </p:sp>
      <p:grpSp>
        <p:nvGrpSpPr>
          <p:cNvPr name="Group 3" id="3"/>
          <p:cNvGrpSpPr/>
          <p:nvPr/>
        </p:nvGrpSpPr>
        <p:grpSpPr>
          <a:xfrm rot="0">
            <a:off x="-1793400" y="-712357"/>
            <a:ext cx="22453902" cy="11711713"/>
            <a:chOff x="0" y="0"/>
            <a:chExt cx="5913785" cy="3084566"/>
          </a:xfrm>
        </p:grpSpPr>
        <p:sp>
          <p:nvSpPr>
            <p:cNvPr name="Freeform 4" id="4"/>
            <p:cNvSpPr/>
            <p:nvPr/>
          </p:nvSpPr>
          <p:spPr>
            <a:xfrm flipH="false" flipV="false" rot="0">
              <a:off x="0" y="0"/>
              <a:ext cx="5913785" cy="3084567"/>
            </a:xfrm>
            <a:custGeom>
              <a:avLst/>
              <a:gdLst/>
              <a:ahLst/>
              <a:cxnLst/>
              <a:rect r="r" b="b" t="t" l="l"/>
              <a:pathLst>
                <a:path h="3084567" w="5913785">
                  <a:moveTo>
                    <a:pt x="0" y="0"/>
                  </a:moveTo>
                  <a:lnTo>
                    <a:pt x="5913785" y="0"/>
                  </a:lnTo>
                  <a:lnTo>
                    <a:pt x="5913785" y="3084567"/>
                  </a:lnTo>
                  <a:lnTo>
                    <a:pt x="0" y="3084567"/>
                  </a:lnTo>
                  <a:close/>
                </a:path>
              </a:pathLst>
            </a:custGeom>
            <a:solidFill>
              <a:srgbClr val="AAD7D4">
                <a:alpha val="28627"/>
              </a:srgbClr>
            </a:solidFill>
          </p:spPr>
        </p:sp>
        <p:sp>
          <p:nvSpPr>
            <p:cNvPr name="TextBox 5" id="5"/>
            <p:cNvSpPr txBox="true"/>
            <p:nvPr/>
          </p:nvSpPr>
          <p:spPr>
            <a:xfrm>
              <a:off x="0" y="-38100"/>
              <a:ext cx="5913785" cy="3122666"/>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5571132" y="6449964"/>
            <a:ext cx="10909773" cy="669188"/>
            <a:chOff x="0" y="0"/>
            <a:chExt cx="2873356" cy="176247"/>
          </a:xfrm>
        </p:grpSpPr>
        <p:sp>
          <p:nvSpPr>
            <p:cNvPr name="Freeform 7" id="7"/>
            <p:cNvSpPr/>
            <p:nvPr/>
          </p:nvSpPr>
          <p:spPr>
            <a:xfrm flipH="false" flipV="false" rot="0">
              <a:off x="0" y="0"/>
              <a:ext cx="2873356" cy="176247"/>
            </a:xfrm>
            <a:custGeom>
              <a:avLst/>
              <a:gdLst/>
              <a:ahLst/>
              <a:cxnLst/>
              <a:rect r="r" b="b" t="t" l="l"/>
              <a:pathLst>
                <a:path h="176247" w="2873356">
                  <a:moveTo>
                    <a:pt x="0" y="0"/>
                  </a:moveTo>
                  <a:lnTo>
                    <a:pt x="2873356" y="0"/>
                  </a:lnTo>
                  <a:lnTo>
                    <a:pt x="2873356" y="176247"/>
                  </a:lnTo>
                  <a:lnTo>
                    <a:pt x="0" y="176247"/>
                  </a:lnTo>
                  <a:close/>
                </a:path>
              </a:pathLst>
            </a:custGeom>
            <a:solidFill>
              <a:srgbClr val="AAD7D4"/>
            </a:solidFill>
            <a:ln w="28575" cap="sq">
              <a:solidFill>
                <a:srgbClr val="1C2120"/>
              </a:solidFill>
              <a:prstDash val="solid"/>
              <a:miter/>
            </a:ln>
          </p:spPr>
        </p:sp>
        <p:sp>
          <p:nvSpPr>
            <p:cNvPr name="TextBox 8" id="8"/>
            <p:cNvSpPr txBox="true"/>
            <p:nvPr/>
          </p:nvSpPr>
          <p:spPr>
            <a:xfrm>
              <a:off x="0" y="-38100"/>
              <a:ext cx="2873356" cy="214347"/>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258009" y="2738638"/>
            <a:ext cx="15222896" cy="2611728"/>
          </a:xfrm>
          <a:prstGeom prst="rect">
            <a:avLst/>
          </a:prstGeom>
        </p:spPr>
        <p:txBody>
          <a:bodyPr anchor="t" rtlCol="false" tIns="0" lIns="0" bIns="0" rIns="0">
            <a:spAutoFit/>
          </a:bodyPr>
          <a:lstStyle/>
          <a:p>
            <a:pPr algn="ctr">
              <a:lnSpc>
                <a:spcPts val="5627"/>
              </a:lnSpc>
            </a:pPr>
            <a:r>
              <a:rPr lang="en-US" b="true" sz="6699" spc="-361">
                <a:solidFill>
                  <a:srgbClr val="1C2120"/>
                </a:solidFill>
                <a:latin typeface="Poppins Semi-Bold"/>
                <a:ea typeface="Poppins Semi-Bold"/>
                <a:cs typeface="Poppins Semi-Bold"/>
                <a:sym typeface="Poppins Semi-Bold"/>
              </a:rPr>
              <a:t>TOPICS IN MACHINE LEARNING</a:t>
            </a:r>
          </a:p>
          <a:p>
            <a:pPr algn="ctr">
              <a:lnSpc>
                <a:spcPts val="8650"/>
              </a:lnSpc>
            </a:pPr>
          </a:p>
          <a:p>
            <a:pPr algn="ctr">
              <a:lnSpc>
                <a:spcPts val="5291"/>
              </a:lnSpc>
            </a:pPr>
            <a:r>
              <a:rPr lang="en-US" b="true" sz="6299" spc="-340">
                <a:solidFill>
                  <a:srgbClr val="1C2120"/>
                </a:solidFill>
                <a:latin typeface="Poppins Semi-Bold"/>
                <a:ea typeface="Poppins Semi-Bold"/>
                <a:cs typeface="Poppins Semi-Bold"/>
                <a:sym typeface="Poppins Semi-Bold"/>
              </a:rPr>
              <a:t>DEEP REINFORCEMENT LEARNING </a:t>
            </a:r>
          </a:p>
        </p:txBody>
      </p:sp>
      <p:sp>
        <p:nvSpPr>
          <p:cNvPr name="TextBox 10" id="10"/>
          <p:cNvSpPr txBox="true"/>
          <p:nvPr/>
        </p:nvSpPr>
        <p:spPr>
          <a:xfrm rot="0">
            <a:off x="5802417" y="6562438"/>
            <a:ext cx="10447203" cy="482339"/>
          </a:xfrm>
          <a:prstGeom prst="rect">
            <a:avLst/>
          </a:prstGeom>
        </p:spPr>
        <p:txBody>
          <a:bodyPr anchor="t" rtlCol="false" tIns="0" lIns="0" bIns="0" rIns="0">
            <a:spAutoFit/>
          </a:bodyPr>
          <a:lstStyle/>
          <a:p>
            <a:pPr algn="ctr">
              <a:lnSpc>
                <a:spcPts val="3445"/>
              </a:lnSpc>
            </a:pPr>
            <a:r>
              <a:rPr lang="en-US" sz="3445" spc="-68">
                <a:solidFill>
                  <a:srgbClr val="1C2120"/>
                </a:solidFill>
                <a:latin typeface="Poppins"/>
                <a:ea typeface="Poppins"/>
                <a:cs typeface="Poppins"/>
                <a:sym typeface="Poppins"/>
              </a:rPr>
              <a:t>PRESENTED BY KHUSHI MEMON &amp; GRAZIA OBUZOR</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101622" y="-767350"/>
            <a:ext cx="22013892" cy="12354774"/>
          </a:xfrm>
          <a:custGeom>
            <a:avLst/>
            <a:gdLst/>
            <a:ahLst/>
            <a:cxnLst/>
            <a:rect r="r" b="b" t="t" l="l"/>
            <a:pathLst>
              <a:path h="12354774" w="22013892">
                <a:moveTo>
                  <a:pt x="0" y="0"/>
                </a:moveTo>
                <a:lnTo>
                  <a:pt x="22013891" y="0"/>
                </a:lnTo>
                <a:lnTo>
                  <a:pt x="22013891" y="12354775"/>
                </a:lnTo>
                <a:lnTo>
                  <a:pt x="0" y="12354775"/>
                </a:lnTo>
                <a:lnTo>
                  <a:pt x="0" y="0"/>
                </a:lnTo>
                <a:close/>
              </a:path>
            </a:pathLst>
          </a:custGeom>
          <a:blipFill>
            <a:blip r:embed="rId2"/>
            <a:stretch>
              <a:fillRect l="0" t="-9467" r="0" b="-9467"/>
            </a:stretch>
          </a:blipFill>
        </p:spPr>
      </p:sp>
      <p:grpSp>
        <p:nvGrpSpPr>
          <p:cNvPr name="Group 3" id="3"/>
          <p:cNvGrpSpPr/>
          <p:nvPr/>
        </p:nvGrpSpPr>
        <p:grpSpPr>
          <a:xfrm rot="0">
            <a:off x="-1793400" y="-712357"/>
            <a:ext cx="22453902" cy="11711713"/>
            <a:chOff x="0" y="0"/>
            <a:chExt cx="5913785" cy="3084566"/>
          </a:xfrm>
        </p:grpSpPr>
        <p:sp>
          <p:nvSpPr>
            <p:cNvPr name="Freeform 4" id="4"/>
            <p:cNvSpPr/>
            <p:nvPr/>
          </p:nvSpPr>
          <p:spPr>
            <a:xfrm flipH="false" flipV="false" rot="0">
              <a:off x="0" y="0"/>
              <a:ext cx="5913785" cy="3084567"/>
            </a:xfrm>
            <a:custGeom>
              <a:avLst/>
              <a:gdLst/>
              <a:ahLst/>
              <a:cxnLst/>
              <a:rect r="r" b="b" t="t" l="l"/>
              <a:pathLst>
                <a:path h="3084567" w="5913785">
                  <a:moveTo>
                    <a:pt x="0" y="0"/>
                  </a:moveTo>
                  <a:lnTo>
                    <a:pt x="5913785" y="0"/>
                  </a:lnTo>
                  <a:lnTo>
                    <a:pt x="5913785" y="3084567"/>
                  </a:lnTo>
                  <a:lnTo>
                    <a:pt x="0" y="3084567"/>
                  </a:lnTo>
                  <a:close/>
                </a:path>
              </a:pathLst>
            </a:custGeom>
            <a:solidFill>
              <a:srgbClr val="AAD7D4">
                <a:alpha val="28627"/>
              </a:srgbClr>
            </a:solidFill>
          </p:spPr>
        </p:sp>
        <p:sp>
          <p:nvSpPr>
            <p:cNvPr name="TextBox 5" id="5"/>
            <p:cNvSpPr txBox="true"/>
            <p:nvPr/>
          </p:nvSpPr>
          <p:spPr>
            <a:xfrm>
              <a:off x="0" y="-38100"/>
              <a:ext cx="5913785" cy="3122666"/>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38420" y="2361935"/>
            <a:ext cx="9854803" cy="4315777"/>
          </a:xfrm>
          <a:prstGeom prst="rect">
            <a:avLst/>
          </a:prstGeom>
        </p:spPr>
        <p:txBody>
          <a:bodyPr anchor="t" rtlCol="false" tIns="0" lIns="0" bIns="0" rIns="0">
            <a:spAutoFit/>
          </a:bodyPr>
          <a:lstStyle/>
          <a:p>
            <a:pPr algn="l" marL="1764999" indent="-588333" lvl="2">
              <a:lnSpc>
                <a:spcPts val="5722"/>
              </a:lnSpc>
              <a:buAutoNum type="alphaLcPeriod" startAt="1"/>
            </a:pPr>
            <a:r>
              <a:rPr lang="en-US" sz="4087" spc="-335">
                <a:solidFill>
                  <a:srgbClr val="000000"/>
                </a:solidFill>
                <a:latin typeface="Comic Sans"/>
                <a:ea typeface="Comic Sans"/>
                <a:cs typeface="Comic Sans"/>
                <a:sym typeface="Comic Sans"/>
              </a:rPr>
              <a:t>Review of key concepts </a:t>
            </a:r>
          </a:p>
          <a:p>
            <a:pPr algn="l" marL="1764999" indent="-588333" lvl="2">
              <a:lnSpc>
                <a:spcPts val="5722"/>
              </a:lnSpc>
              <a:buAutoNum type="alphaLcPeriod" startAt="1"/>
            </a:pPr>
            <a:r>
              <a:rPr lang="en-US" sz="4087" spc="-335">
                <a:solidFill>
                  <a:srgbClr val="000000"/>
                </a:solidFill>
                <a:latin typeface="Comic Sans"/>
                <a:ea typeface="Comic Sans"/>
                <a:cs typeface="Comic Sans"/>
                <a:sym typeface="Comic Sans"/>
              </a:rPr>
              <a:t>Review of previous lab work</a:t>
            </a:r>
          </a:p>
          <a:p>
            <a:pPr algn="l" marL="1764999" indent="-588333" lvl="2">
              <a:lnSpc>
                <a:spcPts val="5722"/>
              </a:lnSpc>
              <a:buAutoNum type="alphaLcPeriod" startAt="1"/>
            </a:pPr>
            <a:r>
              <a:rPr lang="en-US" sz="4087" spc="-335">
                <a:solidFill>
                  <a:srgbClr val="000000"/>
                </a:solidFill>
                <a:latin typeface="Comic Sans"/>
                <a:ea typeface="Comic Sans"/>
                <a:cs typeface="Comic Sans"/>
                <a:sym typeface="Comic Sans"/>
              </a:rPr>
              <a:t>Rationale for using OpenAI Gym Library</a:t>
            </a:r>
          </a:p>
          <a:p>
            <a:pPr algn="l" marL="1764999" indent="-588333" lvl="2">
              <a:lnSpc>
                <a:spcPts val="5722"/>
              </a:lnSpc>
              <a:buAutoNum type="alphaLcPeriod" startAt="1"/>
            </a:pPr>
            <a:r>
              <a:rPr lang="en-US" sz="4087" spc="-335">
                <a:solidFill>
                  <a:srgbClr val="000000"/>
                </a:solidFill>
                <a:latin typeface="Comic Sans"/>
                <a:ea typeface="Comic Sans"/>
                <a:cs typeface="Comic Sans"/>
                <a:sym typeface="Comic Sans"/>
              </a:rPr>
              <a:t>DQN introduction</a:t>
            </a:r>
          </a:p>
          <a:p>
            <a:pPr algn="l" marL="1764999" indent="-588333" lvl="2">
              <a:lnSpc>
                <a:spcPts val="5722"/>
              </a:lnSpc>
              <a:spcBef>
                <a:spcPct val="0"/>
              </a:spcBef>
              <a:buAutoNum type="alphaLcPeriod" startAt="1"/>
            </a:pPr>
            <a:r>
              <a:rPr lang="en-US" sz="4087" spc="-335">
                <a:solidFill>
                  <a:srgbClr val="000000"/>
                </a:solidFill>
                <a:latin typeface="Comic Sans"/>
                <a:ea typeface="Comic Sans"/>
                <a:cs typeface="Comic Sans"/>
                <a:sym typeface="Comic Sans"/>
              </a:rPr>
              <a:t>Implementing DQN</a:t>
            </a:r>
          </a:p>
          <a:p>
            <a:pPr algn="l">
              <a:lnSpc>
                <a:spcPts val="5722"/>
              </a:lnSpc>
              <a:spcBef>
                <a:spcPct val="0"/>
              </a:spcBef>
            </a:pPr>
          </a:p>
        </p:txBody>
      </p:sp>
      <p:sp>
        <p:nvSpPr>
          <p:cNvPr name="TextBox 7" id="7"/>
          <p:cNvSpPr txBox="true"/>
          <p:nvPr/>
        </p:nvSpPr>
        <p:spPr>
          <a:xfrm rot="0">
            <a:off x="1893963" y="645266"/>
            <a:ext cx="2836172" cy="1095058"/>
          </a:xfrm>
          <a:prstGeom prst="rect">
            <a:avLst/>
          </a:prstGeom>
        </p:spPr>
        <p:txBody>
          <a:bodyPr anchor="t" rtlCol="false" tIns="0" lIns="0" bIns="0" rIns="0">
            <a:spAutoFit/>
          </a:bodyPr>
          <a:lstStyle/>
          <a:p>
            <a:pPr algn="l">
              <a:lnSpc>
                <a:spcPts val="8942"/>
              </a:lnSpc>
              <a:spcBef>
                <a:spcPct val="0"/>
              </a:spcBef>
            </a:pPr>
            <a:r>
              <a:rPr lang="en-US" sz="6387" spc="-523">
                <a:solidFill>
                  <a:srgbClr val="000000"/>
                </a:solidFill>
                <a:latin typeface="Comic Sans"/>
                <a:ea typeface="Comic Sans"/>
                <a:cs typeface="Comic Sans"/>
                <a:sym typeface="Comic Sans"/>
              </a:rPr>
              <a:t>Contents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033774" y="7893931"/>
            <a:ext cx="6569532" cy="2225429"/>
          </a:xfrm>
          <a:custGeom>
            <a:avLst/>
            <a:gdLst/>
            <a:ahLst/>
            <a:cxnLst/>
            <a:rect r="r" b="b" t="t" l="l"/>
            <a:pathLst>
              <a:path h="2225429" w="6569532">
                <a:moveTo>
                  <a:pt x="0" y="0"/>
                </a:moveTo>
                <a:lnTo>
                  <a:pt x="6569531" y="0"/>
                </a:lnTo>
                <a:lnTo>
                  <a:pt x="6569531" y="2225429"/>
                </a:lnTo>
                <a:lnTo>
                  <a:pt x="0" y="2225429"/>
                </a:lnTo>
                <a:lnTo>
                  <a:pt x="0" y="0"/>
                </a:lnTo>
                <a:close/>
              </a:path>
            </a:pathLst>
          </a:custGeom>
          <a:blipFill>
            <a:blip r:embed="rId2"/>
            <a:stretch>
              <a:fillRect l="0" t="0" r="0" b="0"/>
            </a:stretch>
          </a:blipFill>
        </p:spPr>
      </p:sp>
      <p:sp>
        <p:nvSpPr>
          <p:cNvPr name="Freeform 3" id="3"/>
          <p:cNvSpPr/>
          <p:nvPr/>
        </p:nvSpPr>
        <p:spPr>
          <a:xfrm flipH="false" flipV="false" rot="0">
            <a:off x="3339087" y="5143500"/>
            <a:ext cx="3958905" cy="2598031"/>
          </a:xfrm>
          <a:custGeom>
            <a:avLst/>
            <a:gdLst/>
            <a:ahLst/>
            <a:cxnLst/>
            <a:rect r="r" b="b" t="t" l="l"/>
            <a:pathLst>
              <a:path h="2598031" w="3958905">
                <a:moveTo>
                  <a:pt x="0" y="0"/>
                </a:moveTo>
                <a:lnTo>
                  <a:pt x="3958905" y="0"/>
                </a:lnTo>
                <a:lnTo>
                  <a:pt x="3958905" y="2598031"/>
                </a:lnTo>
                <a:lnTo>
                  <a:pt x="0" y="2598031"/>
                </a:lnTo>
                <a:lnTo>
                  <a:pt x="0" y="0"/>
                </a:lnTo>
                <a:close/>
              </a:path>
            </a:pathLst>
          </a:custGeom>
          <a:blipFill>
            <a:blip r:embed="rId3"/>
            <a:stretch>
              <a:fillRect l="0" t="0" r="0" b="0"/>
            </a:stretch>
          </a:blipFill>
        </p:spPr>
      </p:sp>
      <p:sp>
        <p:nvSpPr>
          <p:cNvPr name="Freeform 4" id="4"/>
          <p:cNvSpPr/>
          <p:nvPr/>
        </p:nvSpPr>
        <p:spPr>
          <a:xfrm flipH="false" flipV="false" rot="0">
            <a:off x="11157521" y="677602"/>
            <a:ext cx="5345932" cy="3007087"/>
          </a:xfrm>
          <a:custGeom>
            <a:avLst/>
            <a:gdLst/>
            <a:ahLst/>
            <a:cxnLst/>
            <a:rect r="r" b="b" t="t" l="l"/>
            <a:pathLst>
              <a:path h="3007087" w="5345932">
                <a:moveTo>
                  <a:pt x="0" y="0"/>
                </a:moveTo>
                <a:lnTo>
                  <a:pt x="5345932" y="0"/>
                </a:lnTo>
                <a:lnTo>
                  <a:pt x="5345932" y="3007087"/>
                </a:lnTo>
                <a:lnTo>
                  <a:pt x="0" y="3007087"/>
                </a:lnTo>
                <a:lnTo>
                  <a:pt x="0" y="0"/>
                </a:lnTo>
                <a:close/>
              </a:path>
            </a:pathLst>
          </a:custGeom>
          <a:blipFill>
            <a:blip r:embed="rId4"/>
            <a:stretch>
              <a:fillRect l="0" t="0" r="0" b="0"/>
            </a:stretch>
          </a:blipFill>
        </p:spPr>
      </p:sp>
      <p:sp>
        <p:nvSpPr>
          <p:cNvPr name="TextBox 5" id="5"/>
          <p:cNvSpPr txBox="true"/>
          <p:nvPr/>
        </p:nvSpPr>
        <p:spPr>
          <a:xfrm rot="0">
            <a:off x="706074" y="981075"/>
            <a:ext cx="9224931" cy="4013994"/>
          </a:xfrm>
          <a:prstGeom prst="rect">
            <a:avLst/>
          </a:prstGeom>
        </p:spPr>
        <p:txBody>
          <a:bodyPr anchor="t" rtlCol="false" tIns="0" lIns="0" bIns="0" rIns="0">
            <a:spAutoFit/>
          </a:bodyPr>
          <a:lstStyle/>
          <a:p>
            <a:pPr algn="l">
              <a:lnSpc>
                <a:spcPts val="3981"/>
              </a:lnSpc>
            </a:pPr>
            <a:r>
              <a:rPr lang="en-US" sz="2843" spc="-233" b="true">
                <a:solidFill>
                  <a:srgbClr val="000000"/>
                </a:solidFill>
                <a:latin typeface="Comic Sans Bold"/>
                <a:ea typeface="Comic Sans Bold"/>
                <a:cs typeface="Comic Sans Bold"/>
                <a:sym typeface="Comic Sans Bold"/>
              </a:rPr>
              <a:t>Definition of RL vs Deep RL</a:t>
            </a:r>
          </a:p>
          <a:p>
            <a:pPr algn="l">
              <a:lnSpc>
                <a:spcPts val="3981"/>
              </a:lnSpc>
            </a:pPr>
            <a:r>
              <a:rPr lang="en-US" sz="2843" spc="-233">
                <a:solidFill>
                  <a:srgbClr val="000000"/>
                </a:solidFill>
                <a:latin typeface="Comic Sans"/>
                <a:ea typeface="Comic Sans"/>
                <a:cs typeface="Comic Sans"/>
                <a:sym typeface="Comic Sans"/>
              </a:rPr>
              <a:t>Reinforcement Learning is an ML paradigm where an agent learns through trial and error, by interacting with an environment, receiving feedback (rewards or penalties), aiming to maximise cumulative reward over time (optimal policy).  Deep RL uses DNNs to represent the agent’s value function, allowing it to handle complex, high-dimensional, or unstructured input data (such as images or raw sensor data)</a:t>
            </a:r>
          </a:p>
        </p:txBody>
      </p:sp>
      <p:sp>
        <p:nvSpPr>
          <p:cNvPr name="TextBox 6" id="6"/>
          <p:cNvSpPr txBox="true"/>
          <p:nvPr/>
        </p:nvSpPr>
        <p:spPr>
          <a:xfrm rot="0">
            <a:off x="706074" y="307454"/>
            <a:ext cx="12048142" cy="721246"/>
          </a:xfrm>
          <a:prstGeom prst="rect">
            <a:avLst/>
          </a:prstGeom>
        </p:spPr>
        <p:txBody>
          <a:bodyPr anchor="t" rtlCol="false" tIns="0" lIns="0" bIns="0" rIns="0">
            <a:spAutoFit/>
          </a:bodyPr>
          <a:lstStyle/>
          <a:p>
            <a:pPr algn="l">
              <a:lnSpc>
                <a:spcPts val="5302"/>
              </a:lnSpc>
            </a:pPr>
            <a:r>
              <a:rPr lang="en-US" sz="4651" b="true">
                <a:solidFill>
                  <a:srgbClr val="1C2120"/>
                </a:solidFill>
                <a:latin typeface="Poppins Bold"/>
                <a:ea typeface="Poppins Bold"/>
                <a:cs typeface="Poppins Bold"/>
                <a:sym typeface="Poppins Bold"/>
              </a:rPr>
              <a:t>Review of Key Concepts</a:t>
            </a:r>
          </a:p>
        </p:txBody>
      </p:sp>
      <p:sp>
        <p:nvSpPr>
          <p:cNvPr name="TextBox 7" id="7"/>
          <p:cNvSpPr txBox="true"/>
          <p:nvPr/>
        </p:nvSpPr>
        <p:spPr>
          <a:xfrm rot="0">
            <a:off x="9931005" y="3928269"/>
            <a:ext cx="8062133" cy="6042660"/>
          </a:xfrm>
          <a:prstGeom prst="rect">
            <a:avLst/>
          </a:prstGeom>
        </p:spPr>
        <p:txBody>
          <a:bodyPr anchor="t" rtlCol="false" tIns="0" lIns="0" bIns="0" rIns="0">
            <a:spAutoFit/>
          </a:bodyPr>
          <a:lstStyle/>
          <a:p>
            <a:pPr algn="r">
              <a:lnSpc>
                <a:spcPts val="3990"/>
              </a:lnSpc>
              <a:spcBef>
                <a:spcPct val="0"/>
              </a:spcBef>
            </a:pPr>
            <a:r>
              <a:rPr lang="en-US" b="true" sz="2850" spc="-233">
                <a:solidFill>
                  <a:srgbClr val="000000"/>
                </a:solidFill>
                <a:latin typeface="Public Sans Bold"/>
                <a:ea typeface="Public Sans Bold"/>
                <a:cs typeface="Public Sans Bold"/>
                <a:sym typeface="Public Sans Bold"/>
              </a:rPr>
              <a:t>Core Framewor</a:t>
            </a:r>
            <a:r>
              <a:rPr lang="en-US" sz="2850" spc="-233">
                <a:solidFill>
                  <a:srgbClr val="000000"/>
                </a:solidFill>
                <a:latin typeface="Public Sans"/>
                <a:ea typeface="Public Sans"/>
                <a:cs typeface="Public Sans"/>
                <a:sym typeface="Public Sans"/>
              </a:rPr>
              <a:t>k:</a:t>
            </a:r>
          </a:p>
          <a:p>
            <a:pPr algn="r">
              <a:lnSpc>
                <a:spcPts val="3990"/>
              </a:lnSpc>
              <a:spcBef>
                <a:spcPct val="0"/>
              </a:spcBef>
            </a:pPr>
            <a:r>
              <a:rPr lang="en-US" b="true" sz="2850" spc="-233">
                <a:solidFill>
                  <a:srgbClr val="000000"/>
                </a:solidFill>
                <a:latin typeface="Public Sans Bold"/>
                <a:ea typeface="Public Sans Bold"/>
                <a:cs typeface="Public Sans Bold"/>
                <a:sym typeface="Public Sans Bold"/>
              </a:rPr>
              <a:t>MDP (Markov Decision Process): </a:t>
            </a:r>
            <a:r>
              <a:rPr lang="en-US" sz="2850" spc="-233">
                <a:solidFill>
                  <a:srgbClr val="000000"/>
                </a:solidFill>
                <a:latin typeface="Public Sans"/>
                <a:ea typeface="Public Sans"/>
                <a:cs typeface="Public Sans"/>
                <a:sym typeface="Public Sans"/>
              </a:rPr>
              <a:t>Mathematical framework (S, A, P, R, γ) where decisions depend only on current state</a:t>
            </a:r>
          </a:p>
          <a:p>
            <a:pPr algn="r">
              <a:lnSpc>
                <a:spcPts val="3990"/>
              </a:lnSpc>
              <a:spcBef>
                <a:spcPct val="0"/>
              </a:spcBef>
            </a:pPr>
            <a:r>
              <a:rPr lang="en-US" b="true" sz="2850" spc="-233">
                <a:solidFill>
                  <a:srgbClr val="000000"/>
                </a:solidFill>
                <a:latin typeface="Public Sans Bold"/>
                <a:ea typeface="Public Sans Bold"/>
                <a:cs typeface="Public Sans Bold"/>
                <a:sym typeface="Public Sans Bold"/>
              </a:rPr>
              <a:t>State (S): </a:t>
            </a:r>
            <a:r>
              <a:rPr lang="en-US" sz="2850" spc="-233">
                <a:solidFill>
                  <a:srgbClr val="000000"/>
                </a:solidFill>
                <a:latin typeface="Public Sans"/>
                <a:ea typeface="Public Sans"/>
                <a:cs typeface="Public Sans"/>
                <a:sym typeface="Public Sans"/>
              </a:rPr>
              <a:t>Current situation/observation</a:t>
            </a:r>
          </a:p>
          <a:p>
            <a:pPr algn="r">
              <a:lnSpc>
                <a:spcPts val="3990"/>
              </a:lnSpc>
              <a:spcBef>
                <a:spcPct val="0"/>
              </a:spcBef>
            </a:pPr>
            <a:r>
              <a:rPr lang="en-US" b="true" sz="2850" spc="-233">
                <a:solidFill>
                  <a:srgbClr val="000000"/>
                </a:solidFill>
                <a:latin typeface="Public Sans Bold"/>
                <a:ea typeface="Public Sans Bold"/>
                <a:cs typeface="Public Sans Bold"/>
                <a:sym typeface="Public Sans Bold"/>
              </a:rPr>
              <a:t>Action (A): </a:t>
            </a:r>
            <a:r>
              <a:rPr lang="en-US" sz="2850" spc="-233">
                <a:solidFill>
                  <a:srgbClr val="000000"/>
                </a:solidFill>
                <a:latin typeface="Public Sans"/>
                <a:ea typeface="Public Sans"/>
                <a:cs typeface="Public Sans"/>
                <a:sym typeface="Public Sans"/>
              </a:rPr>
              <a:t>Choice the agent can make</a:t>
            </a:r>
          </a:p>
          <a:p>
            <a:pPr algn="r">
              <a:lnSpc>
                <a:spcPts val="3990"/>
              </a:lnSpc>
              <a:spcBef>
                <a:spcPct val="0"/>
              </a:spcBef>
            </a:pPr>
            <a:r>
              <a:rPr lang="en-US" b="true" sz="2850" spc="-233">
                <a:solidFill>
                  <a:srgbClr val="000000"/>
                </a:solidFill>
                <a:latin typeface="Public Sans Bold"/>
                <a:ea typeface="Public Sans Bold"/>
                <a:cs typeface="Public Sans Bold"/>
                <a:sym typeface="Public Sans Bold"/>
              </a:rPr>
              <a:t>Reward (R): </a:t>
            </a:r>
            <a:r>
              <a:rPr lang="en-US" sz="2850" spc="-233">
                <a:solidFill>
                  <a:srgbClr val="000000"/>
                </a:solidFill>
                <a:latin typeface="Public Sans"/>
                <a:ea typeface="Public Sans"/>
                <a:cs typeface="Public Sans"/>
                <a:sym typeface="Public Sans"/>
              </a:rPr>
              <a:t>Immediate feedback signal </a:t>
            </a:r>
          </a:p>
          <a:p>
            <a:pPr algn="r">
              <a:lnSpc>
                <a:spcPts val="3990"/>
              </a:lnSpc>
              <a:spcBef>
                <a:spcPct val="0"/>
              </a:spcBef>
            </a:pPr>
            <a:r>
              <a:rPr lang="en-US" b="true" sz="2850" spc="-233">
                <a:solidFill>
                  <a:srgbClr val="000000"/>
                </a:solidFill>
                <a:latin typeface="Public Sans Bold"/>
                <a:ea typeface="Public Sans Bold"/>
                <a:cs typeface="Public Sans Bold"/>
                <a:sym typeface="Public Sans Bold"/>
              </a:rPr>
              <a:t>Cost &amp; Discount Cost (γ):</a:t>
            </a:r>
            <a:r>
              <a:rPr lang="en-US" sz="2850" spc="-233">
                <a:solidFill>
                  <a:srgbClr val="000000"/>
                </a:solidFill>
                <a:latin typeface="Public Sans"/>
                <a:ea typeface="Public Sans"/>
                <a:cs typeface="Public Sans"/>
                <a:sym typeface="Public Sans"/>
              </a:rPr>
              <a:t> the present value of future costs, calculated using the discount factor γ (gamma).</a:t>
            </a:r>
          </a:p>
          <a:p>
            <a:pPr algn="r">
              <a:lnSpc>
                <a:spcPts val="3990"/>
              </a:lnSpc>
              <a:spcBef>
                <a:spcPct val="0"/>
              </a:spcBef>
            </a:pPr>
            <a:r>
              <a:rPr lang="en-US" b="true" sz="2850" spc="-233">
                <a:solidFill>
                  <a:srgbClr val="000000"/>
                </a:solidFill>
                <a:latin typeface="Public Sans Bold"/>
                <a:ea typeface="Public Sans Bold"/>
                <a:cs typeface="Public Sans Bold"/>
                <a:sym typeface="Public Sans Bold"/>
              </a:rPr>
              <a:t>Episode: </a:t>
            </a:r>
            <a:r>
              <a:rPr lang="en-US" sz="2850" spc="-233">
                <a:solidFill>
                  <a:srgbClr val="000000"/>
                </a:solidFill>
                <a:latin typeface="Public Sans"/>
                <a:ea typeface="Public Sans"/>
                <a:cs typeface="Public Sans"/>
                <a:sym typeface="Public Sans"/>
              </a:rPr>
              <a:t>Complete sequence from start to terminal state</a:t>
            </a:r>
          </a:p>
          <a:p>
            <a:pPr algn="r">
              <a:lnSpc>
                <a:spcPts val="3990"/>
              </a:lnSpc>
              <a:spcBef>
                <a:spcPct val="0"/>
              </a:spcBef>
            </a:pPr>
            <a:r>
              <a:rPr lang="en-US" b="true" sz="2850" spc="-233">
                <a:solidFill>
                  <a:srgbClr val="000000"/>
                </a:solidFill>
                <a:latin typeface="Public Sans Bold"/>
                <a:ea typeface="Public Sans Bold"/>
                <a:cs typeface="Public Sans Bold"/>
                <a:sym typeface="Public Sans Bold"/>
              </a:rPr>
              <a:t>Policy (π): </a:t>
            </a:r>
            <a:r>
              <a:rPr lang="en-US" sz="2850" spc="-233">
                <a:solidFill>
                  <a:srgbClr val="000000"/>
                </a:solidFill>
                <a:latin typeface="Public Sans"/>
                <a:ea typeface="Public Sans"/>
                <a:cs typeface="Public Sans"/>
                <a:sym typeface="Public Sans"/>
              </a:rPr>
              <a:t>Strategy mapping states to actions π(a|s) / different to transmission matrices (P)</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23213" y="3946239"/>
            <a:ext cx="8181652" cy="3153585"/>
          </a:xfrm>
          <a:custGeom>
            <a:avLst/>
            <a:gdLst/>
            <a:ahLst/>
            <a:cxnLst/>
            <a:rect r="r" b="b" t="t" l="l"/>
            <a:pathLst>
              <a:path h="3153585" w="8181652">
                <a:moveTo>
                  <a:pt x="0" y="0"/>
                </a:moveTo>
                <a:lnTo>
                  <a:pt x="8181652" y="0"/>
                </a:lnTo>
                <a:lnTo>
                  <a:pt x="8181652" y="3153585"/>
                </a:lnTo>
                <a:lnTo>
                  <a:pt x="0" y="3153585"/>
                </a:lnTo>
                <a:lnTo>
                  <a:pt x="0" y="0"/>
                </a:lnTo>
                <a:close/>
              </a:path>
            </a:pathLst>
          </a:custGeom>
          <a:blipFill>
            <a:blip r:embed="rId2"/>
            <a:stretch>
              <a:fillRect l="-4777" t="0" r="-11146" b="0"/>
            </a:stretch>
          </a:blipFill>
        </p:spPr>
      </p:sp>
      <p:sp>
        <p:nvSpPr>
          <p:cNvPr name="Freeform 3" id="3"/>
          <p:cNvSpPr/>
          <p:nvPr/>
        </p:nvSpPr>
        <p:spPr>
          <a:xfrm flipH="false" flipV="false" rot="0">
            <a:off x="8604865" y="3946239"/>
            <a:ext cx="9259922" cy="3153585"/>
          </a:xfrm>
          <a:custGeom>
            <a:avLst/>
            <a:gdLst/>
            <a:ahLst/>
            <a:cxnLst/>
            <a:rect r="r" b="b" t="t" l="l"/>
            <a:pathLst>
              <a:path h="3153585" w="9259922">
                <a:moveTo>
                  <a:pt x="0" y="0"/>
                </a:moveTo>
                <a:lnTo>
                  <a:pt x="9259922" y="0"/>
                </a:lnTo>
                <a:lnTo>
                  <a:pt x="9259922" y="3153585"/>
                </a:lnTo>
                <a:lnTo>
                  <a:pt x="0" y="3153585"/>
                </a:lnTo>
                <a:lnTo>
                  <a:pt x="0" y="0"/>
                </a:lnTo>
                <a:close/>
              </a:path>
            </a:pathLst>
          </a:custGeom>
          <a:blipFill>
            <a:blip r:embed="rId3"/>
            <a:stretch>
              <a:fillRect l="-351" t="-229" r="-1018" b="-229"/>
            </a:stretch>
          </a:blipFill>
        </p:spPr>
      </p:sp>
      <p:sp>
        <p:nvSpPr>
          <p:cNvPr name="TextBox 4" id="4"/>
          <p:cNvSpPr txBox="true"/>
          <p:nvPr/>
        </p:nvSpPr>
        <p:spPr>
          <a:xfrm rot="0">
            <a:off x="706074" y="1271110"/>
            <a:ext cx="16735500" cy="1994535"/>
          </a:xfrm>
          <a:prstGeom prst="rect">
            <a:avLst/>
          </a:prstGeom>
        </p:spPr>
        <p:txBody>
          <a:bodyPr anchor="t" rtlCol="false" tIns="0" lIns="0" bIns="0" rIns="0">
            <a:spAutoFit/>
          </a:bodyPr>
          <a:lstStyle/>
          <a:p>
            <a:pPr algn="l">
              <a:lnSpc>
                <a:spcPts val="3990"/>
              </a:lnSpc>
            </a:pPr>
            <a:r>
              <a:rPr lang="en-US" b="true" sz="2850" spc="-233">
                <a:solidFill>
                  <a:srgbClr val="000000"/>
                </a:solidFill>
                <a:latin typeface="Comic Sans Bold"/>
                <a:ea typeface="Comic Sans Bold"/>
                <a:cs typeface="Comic Sans Bold"/>
                <a:sym typeface="Comic Sans Bold"/>
              </a:rPr>
              <a:t>Value Functions:</a:t>
            </a:r>
          </a:p>
          <a:p>
            <a:pPr algn="l">
              <a:lnSpc>
                <a:spcPts val="3990"/>
              </a:lnSpc>
            </a:pPr>
            <a:r>
              <a:rPr lang="en-US" b="true" sz="2850" spc="-233">
                <a:solidFill>
                  <a:srgbClr val="000000"/>
                </a:solidFill>
                <a:latin typeface="Comic Sans Bold"/>
                <a:ea typeface="Comic Sans Bold"/>
                <a:cs typeface="Comic Sans Bold"/>
                <a:sym typeface="Comic Sans Bold"/>
              </a:rPr>
              <a:t>V-function: V^π(s) = </a:t>
            </a:r>
            <a:r>
              <a:rPr lang="en-US" sz="2850" spc="-233">
                <a:solidFill>
                  <a:srgbClr val="000000"/>
                </a:solidFill>
                <a:latin typeface="Comic Sans"/>
                <a:ea typeface="Comic Sans"/>
                <a:cs typeface="Comic Sans"/>
                <a:sym typeface="Comic Sans"/>
              </a:rPr>
              <a:t>Expected cumulative reward from state s following policy π (from sum of individual Q-functions)</a:t>
            </a:r>
          </a:p>
          <a:p>
            <a:pPr algn="l">
              <a:lnSpc>
                <a:spcPts val="3990"/>
              </a:lnSpc>
            </a:pPr>
            <a:r>
              <a:rPr lang="en-US" b="true" sz="2850" spc="-233">
                <a:solidFill>
                  <a:srgbClr val="000000"/>
                </a:solidFill>
                <a:latin typeface="Comic Sans Bold"/>
                <a:ea typeface="Comic Sans Bold"/>
                <a:cs typeface="Comic Sans Bold"/>
                <a:sym typeface="Comic Sans Bold"/>
              </a:rPr>
              <a:t>Q-function: Q^π(s,a) = </a:t>
            </a:r>
            <a:r>
              <a:rPr lang="en-US" sz="2850" spc="-233">
                <a:solidFill>
                  <a:srgbClr val="000000"/>
                </a:solidFill>
                <a:latin typeface="Comic Sans"/>
                <a:ea typeface="Comic Sans"/>
                <a:cs typeface="Comic Sans"/>
                <a:sym typeface="Comic Sans"/>
              </a:rPr>
              <a:t>Expected cumulative reward from state s, taking action a, then following π </a:t>
            </a:r>
          </a:p>
          <a:p>
            <a:pPr algn="l">
              <a:lnSpc>
                <a:spcPts val="3990"/>
              </a:lnSpc>
            </a:pPr>
            <a:r>
              <a:rPr lang="en-US" b="true" sz="2850" spc="-233">
                <a:solidFill>
                  <a:srgbClr val="000000"/>
                </a:solidFill>
                <a:latin typeface="Comic Sans Bold"/>
                <a:ea typeface="Comic Sans Bold"/>
                <a:cs typeface="Comic Sans Bold"/>
                <a:sym typeface="Comic Sans Bold"/>
              </a:rPr>
              <a:t>Bellman Equations: V(s) =</a:t>
            </a:r>
            <a:r>
              <a:rPr lang="en-US" sz="2850" spc="-233">
                <a:solidFill>
                  <a:srgbClr val="000000"/>
                </a:solidFill>
                <a:latin typeface="Comic Sans"/>
                <a:ea typeface="Comic Sans"/>
                <a:cs typeface="Comic Sans"/>
                <a:sym typeface="Comic Sans"/>
              </a:rPr>
              <a:t> Σ π(a|s)[R(s,a) + γΣ P(s'|s,a)V(s')]</a:t>
            </a:r>
          </a:p>
        </p:txBody>
      </p:sp>
      <p:sp>
        <p:nvSpPr>
          <p:cNvPr name="TextBox 5" id="5"/>
          <p:cNvSpPr txBox="true"/>
          <p:nvPr/>
        </p:nvSpPr>
        <p:spPr>
          <a:xfrm rot="0">
            <a:off x="706074" y="307454"/>
            <a:ext cx="12048142" cy="721246"/>
          </a:xfrm>
          <a:prstGeom prst="rect">
            <a:avLst/>
          </a:prstGeom>
        </p:spPr>
        <p:txBody>
          <a:bodyPr anchor="t" rtlCol="false" tIns="0" lIns="0" bIns="0" rIns="0">
            <a:spAutoFit/>
          </a:bodyPr>
          <a:lstStyle/>
          <a:p>
            <a:pPr algn="l">
              <a:lnSpc>
                <a:spcPts val="5302"/>
              </a:lnSpc>
            </a:pPr>
            <a:r>
              <a:rPr lang="en-US" sz="4651" b="true">
                <a:solidFill>
                  <a:srgbClr val="1C2120"/>
                </a:solidFill>
                <a:latin typeface="Poppins Bold"/>
                <a:ea typeface="Poppins Bold"/>
                <a:cs typeface="Poppins Bold"/>
                <a:sym typeface="Poppins Bold"/>
              </a:rPr>
              <a:t>Review of Key Concepts</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flipV="true">
            <a:off x="871537" y="1704011"/>
            <a:ext cx="0" cy="7937299"/>
          </a:xfrm>
          <a:prstGeom prst="line">
            <a:avLst/>
          </a:prstGeom>
          <a:ln cap="flat" w="47625">
            <a:solidFill>
              <a:srgbClr val="000000"/>
            </a:solidFill>
            <a:prstDash val="solid"/>
            <a:headEnd type="none" len="sm" w="sm"/>
            <a:tailEnd type="none" len="sm" w="sm"/>
          </a:ln>
        </p:spPr>
      </p:sp>
      <p:sp>
        <p:nvSpPr>
          <p:cNvPr name="TextBox 3" id="3"/>
          <p:cNvSpPr txBox="true"/>
          <p:nvPr/>
        </p:nvSpPr>
        <p:spPr>
          <a:xfrm rot="0">
            <a:off x="1028700" y="573308"/>
            <a:ext cx="12048142" cy="721246"/>
          </a:xfrm>
          <a:prstGeom prst="rect">
            <a:avLst/>
          </a:prstGeom>
        </p:spPr>
        <p:txBody>
          <a:bodyPr anchor="t" rtlCol="false" tIns="0" lIns="0" bIns="0" rIns="0">
            <a:spAutoFit/>
          </a:bodyPr>
          <a:lstStyle/>
          <a:p>
            <a:pPr algn="l">
              <a:lnSpc>
                <a:spcPts val="5302"/>
              </a:lnSpc>
            </a:pPr>
            <a:r>
              <a:rPr lang="en-US" sz="4651" b="true">
                <a:solidFill>
                  <a:srgbClr val="1C2120"/>
                </a:solidFill>
                <a:latin typeface="Poppins Bold"/>
                <a:ea typeface="Poppins Bold"/>
                <a:cs typeface="Poppins Bold"/>
                <a:sym typeface="Poppins Bold"/>
              </a:rPr>
              <a:t>Intro Lab Review</a:t>
            </a:r>
          </a:p>
        </p:txBody>
      </p:sp>
      <p:sp>
        <p:nvSpPr>
          <p:cNvPr name="TextBox 4" id="4"/>
          <p:cNvSpPr txBox="true"/>
          <p:nvPr/>
        </p:nvSpPr>
        <p:spPr>
          <a:xfrm rot="0">
            <a:off x="1085708" y="1535511"/>
            <a:ext cx="17068942" cy="8313339"/>
          </a:xfrm>
          <a:prstGeom prst="rect">
            <a:avLst/>
          </a:prstGeom>
        </p:spPr>
        <p:txBody>
          <a:bodyPr anchor="t" rtlCol="false" tIns="0" lIns="0" bIns="0" rIns="0">
            <a:spAutoFit/>
          </a:bodyPr>
          <a:lstStyle/>
          <a:p>
            <a:pPr algn="l">
              <a:lnSpc>
                <a:spcPts val="3515"/>
              </a:lnSpc>
            </a:pPr>
            <a:r>
              <a:rPr lang="en-US" b="true" sz="2604" spc="156" u="none">
                <a:solidFill>
                  <a:srgbClr val="000000"/>
                </a:solidFill>
                <a:latin typeface="DM Sans Bold"/>
                <a:ea typeface="DM Sans Bold"/>
                <a:cs typeface="DM Sans Bold"/>
                <a:sym typeface="DM Sans Bold"/>
              </a:rPr>
              <a:t>1. Pro</a:t>
            </a:r>
            <a:r>
              <a:rPr lang="en-US" b="true" sz="2604" spc="156">
                <a:solidFill>
                  <a:srgbClr val="000000"/>
                </a:solidFill>
                <a:latin typeface="DM Sans Bold"/>
                <a:ea typeface="DM Sans Bold"/>
                <a:cs typeface="DM Sans Bold"/>
                <a:sym typeface="DM Sans Bold"/>
              </a:rPr>
              <a:t>b</a:t>
            </a:r>
            <a:r>
              <a:rPr lang="en-US" b="true" sz="2604" spc="156" u="none">
                <a:solidFill>
                  <a:srgbClr val="000000"/>
                </a:solidFill>
                <a:latin typeface="DM Sans Bold"/>
                <a:ea typeface="DM Sans Bold"/>
                <a:cs typeface="DM Sans Bold"/>
                <a:sym typeface="DM Sans Bold"/>
              </a:rPr>
              <a:t>l</a:t>
            </a:r>
            <a:r>
              <a:rPr lang="en-US" b="true" sz="2604" spc="156">
                <a:solidFill>
                  <a:srgbClr val="000000"/>
                </a:solidFill>
                <a:latin typeface="DM Sans Bold"/>
                <a:ea typeface="DM Sans Bold"/>
                <a:cs typeface="DM Sans Bold"/>
                <a:sym typeface="DM Sans Bold"/>
              </a:rPr>
              <a:t>e</a:t>
            </a:r>
            <a:r>
              <a:rPr lang="en-US" b="true" sz="2604" spc="156" u="none">
                <a:solidFill>
                  <a:srgbClr val="000000"/>
                </a:solidFill>
                <a:latin typeface="DM Sans Bold"/>
                <a:ea typeface="DM Sans Bold"/>
                <a:cs typeface="DM Sans Bold"/>
                <a:sym typeface="DM Sans Bold"/>
              </a:rPr>
              <a:t>m</a:t>
            </a:r>
            <a:r>
              <a:rPr lang="en-US" b="true" sz="2604" spc="156">
                <a:solidFill>
                  <a:srgbClr val="000000"/>
                </a:solidFill>
                <a:latin typeface="DM Sans Bold"/>
                <a:ea typeface="DM Sans Bold"/>
                <a:cs typeface="DM Sans Bold"/>
                <a:sym typeface="DM Sans Bold"/>
              </a:rPr>
              <a:t> </a:t>
            </a:r>
            <a:r>
              <a:rPr lang="en-US" b="true" sz="2604" spc="156" u="none">
                <a:solidFill>
                  <a:srgbClr val="000000"/>
                </a:solidFill>
                <a:latin typeface="DM Sans Bold"/>
                <a:ea typeface="DM Sans Bold"/>
                <a:cs typeface="DM Sans Bold"/>
                <a:sym typeface="DM Sans Bold"/>
              </a:rPr>
              <a:t>F</a:t>
            </a:r>
            <a:r>
              <a:rPr lang="en-US" b="true" sz="2604" spc="156">
                <a:solidFill>
                  <a:srgbClr val="000000"/>
                </a:solidFill>
                <a:latin typeface="DM Sans Bold"/>
                <a:ea typeface="DM Sans Bold"/>
                <a:cs typeface="DM Sans Bold"/>
                <a:sym typeface="DM Sans Bold"/>
              </a:rPr>
              <a:t>o</a:t>
            </a:r>
            <a:r>
              <a:rPr lang="en-US" b="true" sz="2604" spc="156" u="none">
                <a:solidFill>
                  <a:srgbClr val="000000"/>
                </a:solidFill>
                <a:latin typeface="DM Sans Bold"/>
                <a:ea typeface="DM Sans Bold"/>
                <a:cs typeface="DM Sans Bold"/>
                <a:sym typeface="DM Sans Bold"/>
              </a:rPr>
              <a:t>rmulation:</a:t>
            </a:r>
          </a:p>
          <a:p>
            <a:pPr algn="l">
              <a:lnSpc>
                <a:spcPts val="3515"/>
              </a:lnSpc>
            </a:pPr>
            <a:r>
              <a:rPr lang="en-US" sz="2604" spc="156" u="none">
                <a:solidFill>
                  <a:srgbClr val="000000"/>
                </a:solidFill>
                <a:latin typeface="DM Sans"/>
                <a:ea typeface="DM Sans"/>
                <a:cs typeface="DM Sans"/>
                <a:sym typeface="DM Sans"/>
              </a:rPr>
              <a:t>De</a:t>
            </a:r>
            <a:r>
              <a:rPr lang="en-US" sz="2604" spc="156">
                <a:solidFill>
                  <a:srgbClr val="000000"/>
                </a:solidFill>
                <a:latin typeface="DM Sans"/>
                <a:ea typeface="DM Sans"/>
                <a:cs typeface="DM Sans"/>
                <a:sym typeface="DM Sans"/>
              </a:rPr>
              <a:t>f</a:t>
            </a:r>
            <a:r>
              <a:rPr lang="en-US" sz="2604" spc="156" u="none">
                <a:solidFill>
                  <a:srgbClr val="000000"/>
                </a:solidFill>
                <a:latin typeface="DM Sans"/>
                <a:ea typeface="DM Sans"/>
                <a:cs typeface="DM Sans"/>
                <a:sym typeface="DM Sans"/>
              </a:rPr>
              <a:t>ined</a:t>
            </a:r>
            <a:r>
              <a:rPr lang="en-US" sz="2604" spc="156">
                <a:solidFill>
                  <a:srgbClr val="000000"/>
                </a:solidFill>
                <a:latin typeface="DM Sans"/>
                <a:ea typeface="DM Sans"/>
                <a:cs typeface="DM Sans"/>
                <a:sym typeface="DM Sans"/>
              </a:rPr>
              <a:t> </a:t>
            </a:r>
            <a:r>
              <a:rPr lang="en-US" sz="2604" spc="156" u="none">
                <a:solidFill>
                  <a:srgbClr val="000000"/>
                </a:solidFill>
                <a:latin typeface="DM Sans"/>
                <a:ea typeface="DM Sans"/>
                <a:cs typeface="DM Sans"/>
                <a:sym typeface="DM Sans"/>
              </a:rPr>
              <a:t>the machine r</a:t>
            </a:r>
            <a:r>
              <a:rPr lang="en-US" sz="2604" spc="156">
                <a:solidFill>
                  <a:srgbClr val="000000"/>
                </a:solidFill>
                <a:latin typeface="DM Sans"/>
                <a:ea typeface="DM Sans"/>
                <a:cs typeface="DM Sans"/>
                <a:sym typeface="DM Sans"/>
              </a:rPr>
              <a:t>ep</a:t>
            </a:r>
            <a:r>
              <a:rPr lang="en-US" sz="2604" spc="156" u="none">
                <a:solidFill>
                  <a:srgbClr val="000000"/>
                </a:solidFill>
                <a:latin typeface="DM Sans"/>
                <a:ea typeface="DM Sans"/>
                <a:cs typeface="DM Sans"/>
                <a:sym typeface="DM Sans"/>
              </a:rPr>
              <a:t>lacement scenari</a:t>
            </a:r>
            <a:r>
              <a:rPr lang="en-US" sz="2604" spc="156">
                <a:solidFill>
                  <a:srgbClr val="000000"/>
                </a:solidFill>
                <a:latin typeface="DM Sans"/>
                <a:ea typeface="DM Sans"/>
                <a:cs typeface="DM Sans"/>
                <a:sym typeface="DM Sans"/>
              </a:rPr>
              <a:t>o</a:t>
            </a:r>
            <a:r>
              <a:rPr lang="en-US" sz="2604" spc="156" u="none">
                <a:solidFill>
                  <a:srgbClr val="000000"/>
                </a:solidFill>
                <a:latin typeface="DM Sans"/>
                <a:ea typeface="DM Sans"/>
                <a:cs typeface="DM Sans"/>
                <a:sym typeface="DM Sans"/>
              </a:rPr>
              <a:t> as a sequential de</a:t>
            </a:r>
            <a:r>
              <a:rPr lang="en-US" sz="2604" spc="156">
                <a:solidFill>
                  <a:srgbClr val="000000"/>
                </a:solidFill>
                <a:latin typeface="DM Sans"/>
                <a:ea typeface="DM Sans"/>
                <a:cs typeface="DM Sans"/>
                <a:sym typeface="DM Sans"/>
              </a:rPr>
              <a:t>c</a:t>
            </a:r>
            <a:r>
              <a:rPr lang="en-US" sz="2604" spc="156" u="none">
                <a:solidFill>
                  <a:srgbClr val="000000"/>
                </a:solidFill>
                <a:latin typeface="DM Sans"/>
                <a:ea typeface="DM Sans"/>
                <a:cs typeface="DM Sans"/>
                <a:sym typeface="DM Sans"/>
              </a:rPr>
              <a:t>ision-making problem wit</a:t>
            </a:r>
            <a:r>
              <a:rPr lang="en-US" sz="2604" spc="156">
                <a:solidFill>
                  <a:srgbClr val="000000"/>
                </a:solidFill>
                <a:latin typeface="DM Sans"/>
                <a:ea typeface="DM Sans"/>
                <a:cs typeface="DM Sans"/>
                <a:sym typeface="DM Sans"/>
              </a:rPr>
              <a:t>h</a:t>
            </a:r>
            <a:r>
              <a:rPr lang="en-US" sz="2604" spc="156" u="none">
                <a:solidFill>
                  <a:srgbClr val="000000"/>
                </a:solidFill>
                <a:latin typeface="DM Sans"/>
                <a:ea typeface="DM Sans"/>
                <a:cs typeface="DM Sans"/>
                <a:sym typeface="DM Sans"/>
              </a:rPr>
              <a:t> state</a:t>
            </a:r>
            <a:r>
              <a:rPr lang="en-US" sz="2604" spc="156">
                <a:solidFill>
                  <a:srgbClr val="000000"/>
                </a:solidFill>
                <a:latin typeface="DM Sans"/>
                <a:ea typeface="DM Sans"/>
                <a:cs typeface="DM Sans"/>
                <a:sym typeface="DM Sans"/>
              </a:rPr>
              <a:t>s </a:t>
            </a:r>
            <a:r>
              <a:rPr lang="en-US" sz="2604" spc="156" u="none">
                <a:solidFill>
                  <a:srgbClr val="000000"/>
                </a:solidFill>
                <a:latin typeface="DM Sans"/>
                <a:ea typeface="DM Sans"/>
                <a:cs typeface="DM Sans"/>
                <a:sym typeface="DM Sans"/>
              </a:rPr>
              <a:t>(machine condition/age) and actions</a:t>
            </a:r>
            <a:r>
              <a:rPr lang="en-US" sz="2604" spc="156">
                <a:solidFill>
                  <a:srgbClr val="000000"/>
                </a:solidFill>
                <a:latin typeface="DM Sans"/>
                <a:ea typeface="DM Sans"/>
                <a:cs typeface="DM Sans"/>
                <a:sym typeface="DM Sans"/>
              </a:rPr>
              <a:t> </a:t>
            </a:r>
            <a:r>
              <a:rPr lang="en-US" sz="2604" spc="156" u="none">
                <a:solidFill>
                  <a:srgbClr val="000000"/>
                </a:solidFill>
                <a:latin typeface="DM Sans"/>
                <a:ea typeface="DM Sans"/>
                <a:cs typeface="DM Sans"/>
                <a:sym typeface="DM Sans"/>
              </a:rPr>
              <a:t>(replace or not).</a:t>
            </a:r>
          </a:p>
          <a:p>
            <a:pPr algn="l">
              <a:lnSpc>
                <a:spcPts val="3515"/>
              </a:lnSpc>
            </a:pPr>
            <a:r>
              <a:rPr lang="en-US" b="true" sz="2604" spc="156">
                <a:solidFill>
                  <a:srgbClr val="000000"/>
                </a:solidFill>
                <a:latin typeface="DM Sans Bold"/>
                <a:ea typeface="DM Sans Bold"/>
                <a:cs typeface="DM Sans Bold"/>
                <a:sym typeface="DM Sans Bold"/>
              </a:rPr>
              <a:t>2</a:t>
            </a:r>
            <a:r>
              <a:rPr lang="en-US" b="true" sz="2604" spc="156" u="none">
                <a:solidFill>
                  <a:srgbClr val="000000"/>
                </a:solidFill>
                <a:latin typeface="DM Sans Bold"/>
                <a:ea typeface="DM Sans Bold"/>
                <a:cs typeface="DM Sans Bold"/>
                <a:sym typeface="DM Sans Bold"/>
              </a:rPr>
              <a:t>.</a:t>
            </a:r>
            <a:r>
              <a:rPr lang="en-US" sz="2604" spc="156" u="none">
                <a:solidFill>
                  <a:srgbClr val="000000"/>
                </a:solidFill>
                <a:latin typeface="DM Sans"/>
                <a:ea typeface="DM Sans"/>
                <a:cs typeface="DM Sans"/>
                <a:sym typeface="DM Sans"/>
              </a:rPr>
              <a:t> </a:t>
            </a:r>
            <a:r>
              <a:rPr lang="en-US" b="true" sz="2604" spc="156" u="none">
                <a:solidFill>
                  <a:srgbClr val="000000"/>
                </a:solidFill>
                <a:latin typeface="DM Sans Bold"/>
                <a:ea typeface="DM Sans Bold"/>
                <a:cs typeface="DM Sans Bold"/>
                <a:sym typeface="DM Sans Bold"/>
              </a:rPr>
              <a:t>Manual Simulation (No Gym):</a:t>
            </a:r>
          </a:p>
          <a:p>
            <a:pPr algn="l">
              <a:lnSpc>
                <a:spcPts val="3515"/>
              </a:lnSpc>
            </a:pPr>
            <a:r>
              <a:rPr lang="en-US" sz="2604" spc="156" u="none">
                <a:solidFill>
                  <a:srgbClr val="000000"/>
                </a:solidFill>
                <a:latin typeface="DM Sans"/>
                <a:ea typeface="DM Sans"/>
                <a:cs typeface="DM Sans"/>
                <a:sym typeface="DM Sans"/>
              </a:rPr>
              <a:t>Implemented a manual simul</a:t>
            </a:r>
            <a:r>
              <a:rPr lang="en-US" sz="2604" spc="156">
                <a:solidFill>
                  <a:srgbClr val="000000"/>
                </a:solidFill>
                <a:latin typeface="DM Sans"/>
                <a:ea typeface="DM Sans"/>
                <a:cs typeface="DM Sans"/>
                <a:sym typeface="DM Sans"/>
              </a:rPr>
              <a:t>at</a:t>
            </a:r>
            <a:r>
              <a:rPr lang="en-US" sz="2604" spc="156" u="none">
                <a:solidFill>
                  <a:srgbClr val="000000"/>
                </a:solidFill>
                <a:latin typeface="DM Sans"/>
                <a:ea typeface="DM Sans"/>
                <a:cs typeface="DM Sans"/>
                <a:sym typeface="DM Sans"/>
              </a:rPr>
              <a:t>ion of t</a:t>
            </a:r>
            <a:r>
              <a:rPr lang="en-US" sz="2604" spc="156">
                <a:solidFill>
                  <a:srgbClr val="000000"/>
                </a:solidFill>
                <a:latin typeface="DM Sans"/>
                <a:ea typeface="DM Sans"/>
                <a:cs typeface="DM Sans"/>
                <a:sym typeface="DM Sans"/>
              </a:rPr>
              <a:t>h</a:t>
            </a:r>
            <a:r>
              <a:rPr lang="en-US" sz="2604" spc="156" u="none">
                <a:solidFill>
                  <a:srgbClr val="000000"/>
                </a:solidFill>
                <a:latin typeface="DM Sans"/>
                <a:ea typeface="DM Sans"/>
                <a:cs typeface="DM Sans"/>
                <a:sym typeface="DM Sans"/>
              </a:rPr>
              <a:t>e</a:t>
            </a:r>
            <a:r>
              <a:rPr lang="en-US" sz="2604" spc="156">
                <a:solidFill>
                  <a:srgbClr val="000000"/>
                </a:solidFill>
                <a:latin typeface="DM Sans"/>
                <a:ea typeface="DM Sans"/>
                <a:cs typeface="DM Sans"/>
                <a:sym typeface="DM Sans"/>
              </a:rPr>
              <a:t> </a:t>
            </a:r>
            <a:r>
              <a:rPr lang="en-US" sz="2604" spc="156" u="none">
                <a:solidFill>
                  <a:srgbClr val="000000"/>
                </a:solidFill>
                <a:latin typeface="DM Sans"/>
                <a:ea typeface="DM Sans"/>
                <a:cs typeface="DM Sans"/>
                <a:sym typeface="DM Sans"/>
              </a:rPr>
              <a:t>environment in Python, modelling state tran</a:t>
            </a:r>
            <a:r>
              <a:rPr lang="en-US" sz="2604" spc="156">
                <a:solidFill>
                  <a:srgbClr val="000000"/>
                </a:solidFill>
                <a:latin typeface="DM Sans"/>
                <a:ea typeface="DM Sans"/>
                <a:cs typeface="DM Sans"/>
                <a:sym typeface="DM Sans"/>
              </a:rPr>
              <a:t>si</a:t>
            </a:r>
            <a:r>
              <a:rPr lang="en-US" sz="2604" spc="156" u="none">
                <a:solidFill>
                  <a:srgbClr val="000000"/>
                </a:solidFill>
                <a:latin typeface="DM Sans"/>
                <a:ea typeface="DM Sans"/>
                <a:cs typeface="DM Sans"/>
                <a:sym typeface="DM Sans"/>
              </a:rPr>
              <a:t>tions, actions, and r</a:t>
            </a:r>
            <a:r>
              <a:rPr lang="en-US" sz="2604" spc="156">
                <a:solidFill>
                  <a:srgbClr val="000000"/>
                </a:solidFill>
                <a:latin typeface="DM Sans"/>
                <a:ea typeface="DM Sans"/>
                <a:cs typeface="DM Sans"/>
                <a:sym typeface="DM Sans"/>
              </a:rPr>
              <a:t>e</a:t>
            </a:r>
            <a:r>
              <a:rPr lang="en-US" sz="2604" spc="156" u="none">
                <a:solidFill>
                  <a:srgbClr val="000000"/>
                </a:solidFill>
                <a:latin typeface="DM Sans"/>
                <a:ea typeface="DM Sans"/>
                <a:cs typeface="DM Sans"/>
                <a:sym typeface="DM Sans"/>
              </a:rPr>
              <a:t>wards/costs</a:t>
            </a:r>
            <a:r>
              <a:rPr lang="en-US" sz="2604" spc="156">
                <a:solidFill>
                  <a:srgbClr val="000000"/>
                </a:solidFill>
                <a:latin typeface="DM Sans"/>
                <a:ea typeface="DM Sans"/>
                <a:cs typeface="DM Sans"/>
                <a:sym typeface="DM Sans"/>
              </a:rPr>
              <a:t> </a:t>
            </a:r>
            <a:r>
              <a:rPr lang="en-US" sz="2604" spc="156" u="none">
                <a:solidFill>
                  <a:srgbClr val="000000"/>
                </a:solidFill>
                <a:latin typeface="DM Sans"/>
                <a:ea typeface="DM Sans"/>
                <a:cs typeface="DM Sans"/>
                <a:sym typeface="DM Sans"/>
              </a:rPr>
              <a:t>without using</a:t>
            </a:r>
            <a:r>
              <a:rPr lang="en-US" sz="2604" spc="156">
                <a:solidFill>
                  <a:srgbClr val="000000"/>
                </a:solidFill>
                <a:latin typeface="DM Sans"/>
                <a:ea typeface="DM Sans"/>
                <a:cs typeface="DM Sans"/>
                <a:sym typeface="DM Sans"/>
              </a:rPr>
              <a:t> </a:t>
            </a:r>
            <a:r>
              <a:rPr lang="en-US" sz="2604" spc="156" u="none">
                <a:solidFill>
                  <a:srgbClr val="000000"/>
                </a:solidFill>
                <a:latin typeface="DM Sans"/>
                <a:ea typeface="DM Sans"/>
                <a:cs typeface="DM Sans"/>
                <a:sym typeface="DM Sans"/>
              </a:rPr>
              <a:t>Gym.</a:t>
            </a:r>
          </a:p>
          <a:p>
            <a:pPr algn="l">
              <a:lnSpc>
                <a:spcPts val="3515"/>
              </a:lnSpc>
            </a:pPr>
            <a:r>
              <a:rPr lang="en-US" b="true" sz="2604" spc="156">
                <a:solidFill>
                  <a:srgbClr val="000000"/>
                </a:solidFill>
                <a:latin typeface="DM Sans Bold"/>
                <a:ea typeface="DM Sans Bold"/>
                <a:cs typeface="DM Sans Bold"/>
                <a:sym typeface="DM Sans Bold"/>
              </a:rPr>
              <a:t>3</a:t>
            </a:r>
            <a:r>
              <a:rPr lang="en-US" b="true" sz="2604" spc="156" u="none">
                <a:solidFill>
                  <a:srgbClr val="000000"/>
                </a:solidFill>
                <a:latin typeface="DM Sans Bold"/>
                <a:ea typeface="DM Sans Bold"/>
                <a:cs typeface="DM Sans Bold"/>
                <a:sym typeface="DM Sans Bold"/>
              </a:rPr>
              <a:t>.</a:t>
            </a:r>
            <a:r>
              <a:rPr lang="en-US" sz="2604" spc="156" u="none">
                <a:solidFill>
                  <a:srgbClr val="000000"/>
                </a:solidFill>
                <a:latin typeface="DM Sans"/>
                <a:ea typeface="DM Sans"/>
                <a:cs typeface="DM Sans"/>
                <a:sym typeface="DM Sans"/>
              </a:rPr>
              <a:t> </a:t>
            </a:r>
            <a:r>
              <a:rPr lang="en-US" b="true" sz="2604" spc="156" u="none">
                <a:solidFill>
                  <a:srgbClr val="000000"/>
                </a:solidFill>
                <a:latin typeface="DM Sans Bold"/>
                <a:ea typeface="DM Sans Bold"/>
                <a:cs typeface="DM Sans Bold"/>
                <a:sym typeface="DM Sans Bold"/>
              </a:rPr>
              <a:t>Policy Definition:</a:t>
            </a:r>
          </a:p>
          <a:p>
            <a:pPr algn="l">
              <a:lnSpc>
                <a:spcPts val="3515"/>
              </a:lnSpc>
            </a:pPr>
            <a:r>
              <a:rPr lang="en-US" sz="2604" spc="156" u="none">
                <a:solidFill>
                  <a:srgbClr val="000000"/>
                </a:solidFill>
                <a:latin typeface="DM Sans"/>
                <a:ea typeface="DM Sans"/>
                <a:cs typeface="DM Sans"/>
                <a:sym typeface="DM Sans"/>
              </a:rPr>
              <a:t>Designed a sim</a:t>
            </a:r>
            <a:r>
              <a:rPr lang="en-US" sz="2604" spc="156">
                <a:solidFill>
                  <a:srgbClr val="000000"/>
                </a:solidFill>
                <a:latin typeface="DM Sans"/>
                <a:ea typeface="DM Sans"/>
                <a:cs typeface="DM Sans"/>
                <a:sym typeface="DM Sans"/>
              </a:rPr>
              <a:t>p</a:t>
            </a:r>
            <a:r>
              <a:rPr lang="en-US" sz="2604" spc="156" u="none">
                <a:solidFill>
                  <a:srgbClr val="000000"/>
                </a:solidFill>
                <a:latin typeface="DM Sans"/>
                <a:ea typeface="DM Sans"/>
                <a:cs typeface="DM Sans"/>
                <a:sym typeface="DM Sans"/>
              </a:rPr>
              <a:t>le, rule-based policy (e.g., replace if age &gt; </a:t>
            </a:r>
            <a:r>
              <a:rPr lang="en-US" sz="2604" spc="156">
                <a:solidFill>
                  <a:srgbClr val="000000"/>
                </a:solidFill>
                <a:latin typeface="DM Sans"/>
                <a:ea typeface="DM Sans"/>
                <a:cs typeface="DM Sans"/>
                <a:sym typeface="DM Sans"/>
              </a:rPr>
              <a:t>t</a:t>
            </a:r>
            <a:r>
              <a:rPr lang="en-US" sz="2604" spc="156" u="none">
                <a:solidFill>
                  <a:srgbClr val="000000"/>
                </a:solidFill>
                <a:latin typeface="DM Sans"/>
                <a:ea typeface="DM Sans"/>
                <a:cs typeface="DM Sans"/>
                <a:sym typeface="DM Sans"/>
              </a:rPr>
              <a:t>hreshold) for dec</a:t>
            </a:r>
            <a:r>
              <a:rPr lang="en-US" sz="2604" spc="156">
                <a:solidFill>
                  <a:srgbClr val="000000"/>
                </a:solidFill>
                <a:latin typeface="DM Sans"/>
                <a:ea typeface="DM Sans"/>
                <a:cs typeface="DM Sans"/>
                <a:sym typeface="DM Sans"/>
              </a:rPr>
              <a:t>i</a:t>
            </a:r>
            <a:r>
              <a:rPr lang="en-US" sz="2604" spc="156" u="none">
                <a:solidFill>
                  <a:srgbClr val="000000"/>
                </a:solidFill>
                <a:latin typeface="DM Sans"/>
                <a:ea typeface="DM Sans"/>
                <a:cs typeface="DM Sans"/>
                <a:sym typeface="DM Sans"/>
              </a:rPr>
              <a:t>sion-</a:t>
            </a:r>
            <a:r>
              <a:rPr lang="en-US" sz="2604" spc="156">
                <a:solidFill>
                  <a:srgbClr val="000000"/>
                </a:solidFill>
                <a:latin typeface="DM Sans"/>
                <a:ea typeface="DM Sans"/>
                <a:cs typeface="DM Sans"/>
                <a:sym typeface="DM Sans"/>
              </a:rPr>
              <a:t>m</a:t>
            </a:r>
            <a:r>
              <a:rPr lang="en-US" sz="2604" spc="156" u="none">
                <a:solidFill>
                  <a:srgbClr val="000000"/>
                </a:solidFill>
                <a:latin typeface="DM Sans"/>
                <a:ea typeface="DM Sans"/>
                <a:cs typeface="DM Sans"/>
                <a:sym typeface="DM Sans"/>
              </a:rPr>
              <a:t>ak</a:t>
            </a:r>
            <a:r>
              <a:rPr lang="en-US" sz="2604" spc="156">
                <a:solidFill>
                  <a:srgbClr val="000000"/>
                </a:solidFill>
                <a:latin typeface="DM Sans"/>
                <a:ea typeface="DM Sans"/>
                <a:cs typeface="DM Sans"/>
                <a:sym typeface="DM Sans"/>
              </a:rPr>
              <a:t>i</a:t>
            </a:r>
            <a:r>
              <a:rPr lang="en-US" sz="2604" spc="156" u="none">
                <a:solidFill>
                  <a:srgbClr val="000000"/>
                </a:solidFill>
                <a:latin typeface="DM Sans"/>
                <a:ea typeface="DM Sans"/>
                <a:cs typeface="DM Sans"/>
                <a:sym typeface="DM Sans"/>
              </a:rPr>
              <a:t>ng.</a:t>
            </a:r>
          </a:p>
          <a:p>
            <a:pPr algn="l">
              <a:lnSpc>
                <a:spcPts val="3515"/>
              </a:lnSpc>
            </a:pPr>
            <a:r>
              <a:rPr lang="en-US" b="true" sz="2604" spc="156" u="none">
                <a:solidFill>
                  <a:srgbClr val="000000"/>
                </a:solidFill>
                <a:latin typeface="DM Sans Bold"/>
                <a:ea typeface="DM Sans Bold"/>
                <a:cs typeface="DM Sans Bold"/>
                <a:sym typeface="DM Sans Bold"/>
              </a:rPr>
              <a:t>4. Trajectory Generation:</a:t>
            </a:r>
          </a:p>
          <a:p>
            <a:pPr algn="l">
              <a:lnSpc>
                <a:spcPts val="3515"/>
              </a:lnSpc>
            </a:pPr>
            <a:r>
              <a:rPr lang="en-US" sz="2604" spc="156" u="none">
                <a:solidFill>
                  <a:srgbClr val="000000"/>
                </a:solidFill>
                <a:latin typeface="DM Sans"/>
                <a:ea typeface="DM Sans"/>
                <a:cs typeface="DM Sans"/>
                <a:sym typeface="DM Sans"/>
              </a:rPr>
              <a:t>Ran multiple episodes using the manual simulation and policy, r</a:t>
            </a:r>
            <a:r>
              <a:rPr lang="en-US" sz="2604" spc="156">
                <a:solidFill>
                  <a:srgbClr val="000000"/>
                </a:solidFill>
                <a:latin typeface="DM Sans"/>
                <a:ea typeface="DM Sans"/>
                <a:cs typeface="DM Sans"/>
                <a:sym typeface="DM Sans"/>
              </a:rPr>
              <a:t>e</a:t>
            </a:r>
            <a:r>
              <a:rPr lang="en-US" sz="2604" spc="156" u="none">
                <a:solidFill>
                  <a:srgbClr val="000000"/>
                </a:solidFill>
                <a:latin typeface="DM Sans"/>
                <a:ea typeface="DM Sans"/>
                <a:cs typeface="DM Sans"/>
                <a:sym typeface="DM Sans"/>
              </a:rPr>
              <a:t>co</a:t>
            </a:r>
            <a:r>
              <a:rPr lang="en-US" sz="2604" spc="156">
                <a:solidFill>
                  <a:srgbClr val="000000"/>
                </a:solidFill>
                <a:latin typeface="DM Sans"/>
                <a:ea typeface="DM Sans"/>
                <a:cs typeface="DM Sans"/>
                <a:sym typeface="DM Sans"/>
              </a:rPr>
              <a:t>r</a:t>
            </a:r>
            <a:r>
              <a:rPr lang="en-US" sz="2604" spc="156" u="none">
                <a:solidFill>
                  <a:srgbClr val="000000"/>
                </a:solidFill>
                <a:latin typeface="DM Sans"/>
                <a:ea typeface="DM Sans"/>
                <a:cs typeface="DM Sans"/>
                <a:sym typeface="DM Sans"/>
              </a:rPr>
              <a:t>ding</a:t>
            </a:r>
            <a:r>
              <a:rPr lang="en-US" sz="2604" spc="156">
                <a:solidFill>
                  <a:srgbClr val="000000"/>
                </a:solidFill>
                <a:latin typeface="DM Sans"/>
                <a:ea typeface="DM Sans"/>
                <a:cs typeface="DM Sans"/>
                <a:sym typeface="DM Sans"/>
              </a:rPr>
              <a:t> </a:t>
            </a:r>
            <a:r>
              <a:rPr lang="en-US" sz="2604" spc="156" u="none">
                <a:solidFill>
                  <a:srgbClr val="000000"/>
                </a:solidFill>
                <a:latin typeface="DM Sans"/>
                <a:ea typeface="DM Sans"/>
                <a:cs typeface="DM Sans"/>
                <a:sym typeface="DM Sans"/>
              </a:rPr>
              <a:t>state,</a:t>
            </a:r>
            <a:r>
              <a:rPr lang="en-US" sz="2604" spc="156">
                <a:solidFill>
                  <a:srgbClr val="000000"/>
                </a:solidFill>
                <a:latin typeface="DM Sans"/>
                <a:ea typeface="DM Sans"/>
                <a:cs typeface="DM Sans"/>
                <a:sym typeface="DM Sans"/>
              </a:rPr>
              <a:t> </a:t>
            </a:r>
            <a:r>
              <a:rPr lang="en-US" sz="2604" spc="156" u="none">
                <a:solidFill>
                  <a:srgbClr val="000000"/>
                </a:solidFill>
                <a:latin typeface="DM Sans"/>
                <a:ea typeface="DM Sans"/>
                <a:cs typeface="DM Sans"/>
                <a:sym typeface="DM Sans"/>
              </a:rPr>
              <a:t>action, and reward/cost at each step.</a:t>
            </a:r>
          </a:p>
          <a:p>
            <a:pPr algn="l">
              <a:lnSpc>
                <a:spcPts val="3515"/>
              </a:lnSpc>
            </a:pPr>
            <a:r>
              <a:rPr lang="en-US" b="true" sz="2604" spc="156" u="none">
                <a:solidFill>
                  <a:srgbClr val="000000"/>
                </a:solidFill>
                <a:latin typeface="DM Sans Bold"/>
                <a:ea typeface="DM Sans Bold"/>
                <a:cs typeface="DM Sans Bold"/>
                <a:sym typeface="DM Sans Bold"/>
              </a:rPr>
              <a:t>5. </a:t>
            </a:r>
            <a:r>
              <a:rPr lang="en-US" b="true" sz="2604" spc="156">
                <a:solidFill>
                  <a:srgbClr val="000000"/>
                </a:solidFill>
                <a:latin typeface="DM Sans Bold"/>
                <a:ea typeface="DM Sans Bold"/>
                <a:cs typeface="DM Sans Bold"/>
                <a:sym typeface="DM Sans Bold"/>
              </a:rPr>
              <a:t>D</a:t>
            </a:r>
            <a:r>
              <a:rPr lang="en-US" b="true" sz="2604" spc="156" u="none">
                <a:solidFill>
                  <a:srgbClr val="000000"/>
                </a:solidFill>
                <a:latin typeface="DM Sans Bold"/>
                <a:ea typeface="DM Sans Bold"/>
                <a:cs typeface="DM Sans Bold"/>
                <a:sym typeface="DM Sans Bold"/>
              </a:rPr>
              <a:t>iscounted Return Calculation:</a:t>
            </a:r>
          </a:p>
          <a:p>
            <a:pPr algn="l">
              <a:lnSpc>
                <a:spcPts val="3515"/>
              </a:lnSpc>
            </a:pPr>
            <a:r>
              <a:rPr lang="en-US" sz="2604" spc="156" u="none">
                <a:solidFill>
                  <a:srgbClr val="000000"/>
                </a:solidFill>
                <a:latin typeface="DM Sans"/>
                <a:ea typeface="DM Sans"/>
                <a:cs typeface="DM Sans"/>
                <a:sym typeface="DM Sans"/>
              </a:rPr>
              <a:t>Calculated the t</a:t>
            </a:r>
            <a:r>
              <a:rPr lang="en-US" sz="2604" spc="156">
                <a:solidFill>
                  <a:srgbClr val="000000"/>
                </a:solidFill>
                <a:latin typeface="DM Sans"/>
                <a:ea typeface="DM Sans"/>
                <a:cs typeface="DM Sans"/>
                <a:sym typeface="DM Sans"/>
              </a:rPr>
              <a:t>o</a:t>
            </a:r>
            <a:r>
              <a:rPr lang="en-US" sz="2604" spc="156" u="none">
                <a:solidFill>
                  <a:srgbClr val="000000"/>
                </a:solidFill>
                <a:latin typeface="DM Sans"/>
                <a:ea typeface="DM Sans"/>
                <a:cs typeface="DM Sans"/>
                <a:sym typeface="DM Sans"/>
              </a:rPr>
              <a:t>tal di</a:t>
            </a:r>
            <a:r>
              <a:rPr lang="en-US" sz="2604" spc="156">
                <a:solidFill>
                  <a:srgbClr val="000000"/>
                </a:solidFill>
                <a:latin typeface="DM Sans"/>
                <a:ea typeface="DM Sans"/>
                <a:cs typeface="DM Sans"/>
                <a:sym typeface="DM Sans"/>
              </a:rPr>
              <a:t>s</a:t>
            </a:r>
            <a:r>
              <a:rPr lang="en-US" sz="2604" spc="156" u="none">
                <a:solidFill>
                  <a:srgbClr val="000000"/>
                </a:solidFill>
                <a:latin typeface="DM Sans"/>
                <a:ea typeface="DM Sans"/>
                <a:cs typeface="DM Sans"/>
                <a:sym typeface="DM Sans"/>
              </a:rPr>
              <a:t>counted return (u</a:t>
            </a:r>
            <a:r>
              <a:rPr lang="en-US" sz="2604" spc="156">
                <a:solidFill>
                  <a:srgbClr val="000000"/>
                </a:solidFill>
                <a:latin typeface="DM Sans"/>
                <a:ea typeface="DM Sans"/>
                <a:cs typeface="DM Sans"/>
                <a:sym typeface="DM Sans"/>
              </a:rPr>
              <a:t>s</a:t>
            </a:r>
            <a:r>
              <a:rPr lang="en-US" sz="2604" spc="156" u="none">
                <a:solidFill>
                  <a:srgbClr val="000000"/>
                </a:solidFill>
                <a:latin typeface="DM Sans"/>
                <a:ea typeface="DM Sans"/>
                <a:cs typeface="DM Sans"/>
                <a:sym typeface="DM Sans"/>
              </a:rPr>
              <a:t>ing γ)</a:t>
            </a:r>
            <a:r>
              <a:rPr lang="en-US" sz="2604" spc="156">
                <a:solidFill>
                  <a:srgbClr val="000000"/>
                </a:solidFill>
                <a:latin typeface="DM Sans"/>
                <a:ea typeface="DM Sans"/>
                <a:cs typeface="DM Sans"/>
                <a:sym typeface="DM Sans"/>
              </a:rPr>
              <a:t> f</a:t>
            </a:r>
            <a:r>
              <a:rPr lang="en-US" sz="2604" spc="156" u="none">
                <a:solidFill>
                  <a:srgbClr val="000000"/>
                </a:solidFill>
                <a:latin typeface="DM Sans"/>
                <a:ea typeface="DM Sans"/>
                <a:cs typeface="DM Sans"/>
                <a:sym typeface="DM Sans"/>
              </a:rPr>
              <a:t>or each episode to eval</a:t>
            </a:r>
            <a:r>
              <a:rPr lang="en-US" sz="2604" spc="156">
                <a:solidFill>
                  <a:srgbClr val="000000"/>
                </a:solidFill>
                <a:latin typeface="DM Sans"/>
                <a:ea typeface="DM Sans"/>
                <a:cs typeface="DM Sans"/>
                <a:sym typeface="DM Sans"/>
              </a:rPr>
              <a:t>u</a:t>
            </a:r>
            <a:r>
              <a:rPr lang="en-US" sz="2604" spc="156" u="none">
                <a:solidFill>
                  <a:srgbClr val="000000"/>
                </a:solidFill>
                <a:latin typeface="DM Sans"/>
                <a:ea typeface="DM Sans"/>
                <a:cs typeface="DM Sans"/>
                <a:sym typeface="DM Sans"/>
              </a:rPr>
              <a:t>ate policy performa</a:t>
            </a:r>
            <a:r>
              <a:rPr lang="en-US" sz="2604" spc="156">
                <a:solidFill>
                  <a:srgbClr val="000000"/>
                </a:solidFill>
                <a:latin typeface="DM Sans"/>
                <a:ea typeface="DM Sans"/>
                <a:cs typeface="DM Sans"/>
                <a:sym typeface="DM Sans"/>
              </a:rPr>
              <a:t>nc</a:t>
            </a:r>
            <a:r>
              <a:rPr lang="en-US" sz="2604" spc="156" u="none">
                <a:solidFill>
                  <a:srgbClr val="000000"/>
                </a:solidFill>
                <a:latin typeface="DM Sans"/>
                <a:ea typeface="DM Sans"/>
                <a:cs typeface="DM Sans"/>
                <a:sym typeface="DM Sans"/>
              </a:rPr>
              <a:t>e.</a:t>
            </a:r>
          </a:p>
          <a:p>
            <a:pPr algn="l">
              <a:lnSpc>
                <a:spcPts val="3515"/>
              </a:lnSpc>
            </a:pPr>
            <a:r>
              <a:rPr lang="en-US" b="true" sz="2604" spc="156" u="none">
                <a:solidFill>
                  <a:srgbClr val="000000"/>
                </a:solidFill>
                <a:latin typeface="DM Sans Bold"/>
                <a:ea typeface="DM Sans Bold"/>
                <a:cs typeface="DM Sans Bold"/>
                <a:sym typeface="DM Sans Bold"/>
              </a:rPr>
              <a:t>6. Policy Comparison:</a:t>
            </a:r>
          </a:p>
          <a:p>
            <a:pPr algn="l">
              <a:lnSpc>
                <a:spcPts val="3515"/>
              </a:lnSpc>
            </a:pPr>
            <a:r>
              <a:rPr lang="en-US" sz="2604" spc="156" u="none">
                <a:solidFill>
                  <a:srgbClr val="000000"/>
                </a:solidFill>
                <a:latin typeface="DM Sans"/>
                <a:ea typeface="DM Sans"/>
                <a:cs typeface="DM Sans"/>
                <a:sym typeface="DM Sans"/>
              </a:rPr>
              <a:t>Compared </a:t>
            </a:r>
            <a:r>
              <a:rPr lang="en-US" sz="2604" spc="156">
                <a:solidFill>
                  <a:srgbClr val="000000"/>
                </a:solidFill>
                <a:latin typeface="DM Sans"/>
                <a:ea typeface="DM Sans"/>
                <a:cs typeface="DM Sans"/>
                <a:sym typeface="DM Sans"/>
              </a:rPr>
              <a:t>t</a:t>
            </a:r>
            <a:r>
              <a:rPr lang="en-US" sz="2604" spc="156" u="none">
                <a:solidFill>
                  <a:srgbClr val="000000"/>
                </a:solidFill>
                <a:latin typeface="DM Sans"/>
                <a:ea typeface="DM Sans"/>
                <a:cs typeface="DM Sans"/>
                <a:sym typeface="DM Sans"/>
              </a:rPr>
              <a:t>he performance of d</a:t>
            </a:r>
            <a:r>
              <a:rPr lang="en-US" sz="2604" spc="156">
                <a:solidFill>
                  <a:srgbClr val="000000"/>
                </a:solidFill>
                <a:latin typeface="DM Sans"/>
                <a:ea typeface="DM Sans"/>
                <a:cs typeface="DM Sans"/>
                <a:sym typeface="DM Sans"/>
              </a:rPr>
              <a:t>i</a:t>
            </a:r>
            <a:r>
              <a:rPr lang="en-US" sz="2604" spc="156" u="none">
                <a:solidFill>
                  <a:srgbClr val="000000"/>
                </a:solidFill>
                <a:latin typeface="DM Sans"/>
                <a:ea typeface="DM Sans"/>
                <a:cs typeface="DM Sans"/>
                <a:sym typeface="DM Sans"/>
              </a:rPr>
              <a:t>fferent p</a:t>
            </a:r>
            <a:r>
              <a:rPr lang="en-US" sz="2604" spc="156">
                <a:solidFill>
                  <a:srgbClr val="000000"/>
                </a:solidFill>
                <a:latin typeface="DM Sans"/>
                <a:ea typeface="DM Sans"/>
                <a:cs typeface="DM Sans"/>
                <a:sym typeface="DM Sans"/>
              </a:rPr>
              <a:t>o</a:t>
            </a:r>
            <a:r>
              <a:rPr lang="en-US" sz="2604" spc="156" u="none">
                <a:solidFill>
                  <a:srgbClr val="000000"/>
                </a:solidFill>
                <a:latin typeface="DM Sans"/>
                <a:ea typeface="DM Sans"/>
                <a:cs typeface="DM Sans"/>
                <a:sym typeface="DM Sans"/>
              </a:rPr>
              <a:t>licies by a</a:t>
            </a:r>
            <a:r>
              <a:rPr lang="en-US" sz="2604" spc="156">
                <a:solidFill>
                  <a:srgbClr val="000000"/>
                </a:solidFill>
                <a:latin typeface="DM Sans"/>
                <a:ea typeface="DM Sans"/>
                <a:cs typeface="DM Sans"/>
                <a:sym typeface="DM Sans"/>
              </a:rPr>
              <a:t>n</a:t>
            </a:r>
            <a:r>
              <a:rPr lang="en-US" sz="2604" spc="156" u="none">
                <a:solidFill>
                  <a:srgbClr val="000000"/>
                </a:solidFill>
                <a:latin typeface="DM Sans"/>
                <a:ea typeface="DM Sans"/>
                <a:cs typeface="DM Sans"/>
                <a:sym typeface="DM Sans"/>
              </a:rPr>
              <a:t>alysing</a:t>
            </a:r>
            <a:r>
              <a:rPr lang="en-US" sz="2604" spc="156">
                <a:solidFill>
                  <a:srgbClr val="000000"/>
                </a:solidFill>
                <a:latin typeface="DM Sans"/>
                <a:ea typeface="DM Sans"/>
                <a:cs typeface="DM Sans"/>
                <a:sym typeface="DM Sans"/>
              </a:rPr>
              <a:t> </a:t>
            </a:r>
            <a:r>
              <a:rPr lang="en-US" sz="2604" spc="156" u="none">
                <a:solidFill>
                  <a:srgbClr val="000000"/>
                </a:solidFill>
                <a:latin typeface="DM Sans"/>
                <a:ea typeface="DM Sans"/>
                <a:cs typeface="DM Sans"/>
                <a:sym typeface="DM Sans"/>
              </a:rPr>
              <a:t>their</a:t>
            </a:r>
            <a:r>
              <a:rPr lang="en-US" sz="2604" spc="156">
                <a:solidFill>
                  <a:srgbClr val="000000"/>
                </a:solidFill>
                <a:latin typeface="DM Sans"/>
                <a:ea typeface="DM Sans"/>
                <a:cs typeface="DM Sans"/>
                <a:sym typeface="DM Sans"/>
              </a:rPr>
              <a:t> </a:t>
            </a:r>
            <a:r>
              <a:rPr lang="en-US" sz="2604" spc="156" u="none">
                <a:solidFill>
                  <a:srgbClr val="000000"/>
                </a:solidFill>
                <a:latin typeface="DM Sans"/>
                <a:ea typeface="DM Sans"/>
                <a:cs typeface="DM Sans"/>
                <a:sym typeface="DM Sans"/>
              </a:rPr>
              <a:t>ave</a:t>
            </a:r>
            <a:r>
              <a:rPr lang="en-US" sz="2604" spc="156">
                <a:solidFill>
                  <a:srgbClr val="000000"/>
                </a:solidFill>
                <a:latin typeface="DM Sans"/>
                <a:ea typeface="DM Sans"/>
                <a:cs typeface="DM Sans"/>
                <a:sym typeface="DM Sans"/>
              </a:rPr>
              <a:t>r</a:t>
            </a:r>
            <a:r>
              <a:rPr lang="en-US" sz="2604" spc="156" u="none">
                <a:solidFill>
                  <a:srgbClr val="000000"/>
                </a:solidFill>
                <a:latin typeface="DM Sans"/>
                <a:ea typeface="DM Sans"/>
                <a:cs typeface="DM Sans"/>
                <a:sym typeface="DM Sans"/>
              </a:rPr>
              <a:t>age disc</a:t>
            </a:r>
            <a:r>
              <a:rPr lang="en-US" sz="2604" spc="156">
                <a:solidFill>
                  <a:srgbClr val="000000"/>
                </a:solidFill>
                <a:latin typeface="DM Sans"/>
                <a:ea typeface="DM Sans"/>
                <a:cs typeface="DM Sans"/>
                <a:sym typeface="DM Sans"/>
              </a:rPr>
              <a:t>o</a:t>
            </a:r>
            <a:r>
              <a:rPr lang="en-US" sz="2604" spc="156" u="none">
                <a:solidFill>
                  <a:srgbClr val="000000"/>
                </a:solidFill>
                <a:latin typeface="DM Sans"/>
                <a:ea typeface="DM Sans"/>
                <a:cs typeface="DM Sans"/>
                <a:sym typeface="DM Sans"/>
              </a:rPr>
              <a:t>unted return</a:t>
            </a:r>
            <a:r>
              <a:rPr lang="en-US" sz="2604" spc="156">
                <a:solidFill>
                  <a:srgbClr val="000000"/>
                </a:solidFill>
                <a:latin typeface="DM Sans"/>
                <a:ea typeface="DM Sans"/>
                <a:cs typeface="DM Sans"/>
                <a:sym typeface="DM Sans"/>
              </a:rPr>
              <a:t>s</a:t>
            </a:r>
            <a:r>
              <a:rPr lang="en-US" sz="2604" spc="156" u="none">
                <a:solidFill>
                  <a:srgbClr val="000000"/>
                </a:solidFill>
                <a:latin typeface="DM Sans"/>
                <a:ea typeface="DM Sans"/>
                <a:cs typeface="DM Sans"/>
                <a:sym typeface="DM Sans"/>
              </a:rPr>
              <a:t> from the manual </a:t>
            </a:r>
            <a:r>
              <a:rPr lang="en-US" sz="2604" spc="156">
                <a:solidFill>
                  <a:srgbClr val="000000"/>
                </a:solidFill>
                <a:latin typeface="DM Sans"/>
                <a:ea typeface="DM Sans"/>
                <a:cs typeface="DM Sans"/>
                <a:sym typeface="DM Sans"/>
              </a:rPr>
              <a:t>s</a:t>
            </a:r>
            <a:r>
              <a:rPr lang="en-US" sz="2604" spc="156" u="none">
                <a:solidFill>
                  <a:srgbClr val="000000"/>
                </a:solidFill>
                <a:latin typeface="DM Sans"/>
                <a:ea typeface="DM Sans"/>
                <a:cs typeface="DM Sans"/>
                <a:sym typeface="DM Sans"/>
              </a:rPr>
              <a:t>imulation.</a:t>
            </a:r>
          </a:p>
          <a:p>
            <a:pPr algn="l">
              <a:lnSpc>
                <a:spcPts val="3515"/>
              </a:lnSpc>
            </a:pPr>
            <a:r>
              <a:rPr lang="en-US" b="true" sz="2604" spc="156" u="none">
                <a:solidFill>
                  <a:srgbClr val="000000"/>
                </a:solidFill>
                <a:latin typeface="DM Sans Bold"/>
                <a:ea typeface="DM Sans Bold"/>
                <a:cs typeface="DM Sans Bold"/>
                <a:sym typeface="DM Sans Bold"/>
              </a:rPr>
              <a:t>7.</a:t>
            </a:r>
            <a:r>
              <a:rPr lang="en-US" b="true" sz="2604" spc="156">
                <a:solidFill>
                  <a:srgbClr val="000000"/>
                </a:solidFill>
                <a:latin typeface="DM Sans Bold"/>
                <a:ea typeface="DM Sans Bold"/>
                <a:cs typeface="DM Sans Bold"/>
                <a:sym typeface="DM Sans Bold"/>
              </a:rPr>
              <a:t> </a:t>
            </a:r>
            <a:r>
              <a:rPr lang="en-US" b="true" sz="2604" spc="156" u="none">
                <a:solidFill>
                  <a:srgbClr val="000000"/>
                </a:solidFill>
                <a:latin typeface="DM Sans Bold"/>
                <a:ea typeface="DM Sans Bold"/>
                <a:cs typeface="DM Sans Bold"/>
                <a:sym typeface="DM Sans Bold"/>
              </a:rPr>
              <a:t>Pr</a:t>
            </a:r>
            <a:r>
              <a:rPr lang="en-US" b="true" sz="2604" spc="156">
                <a:solidFill>
                  <a:srgbClr val="000000"/>
                </a:solidFill>
                <a:latin typeface="DM Sans Bold"/>
                <a:ea typeface="DM Sans Bold"/>
                <a:cs typeface="DM Sans Bold"/>
                <a:sym typeface="DM Sans Bold"/>
              </a:rPr>
              <a:t>e</a:t>
            </a:r>
            <a:r>
              <a:rPr lang="en-US" b="true" sz="2604" spc="156" u="none">
                <a:solidFill>
                  <a:srgbClr val="000000"/>
                </a:solidFill>
                <a:latin typeface="DM Sans Bold"/>
                <a:ea typeface="DM Sans Bold"/>
                <a:cs typeface="DM Sans Bold"/>
                <a:sym typeface="DM Sans Bold"/>
              </a:rPr>
              <a:t>paration for RL (Gym I</a:t>
            </a:r>
            <a:r>
              <a:rPr lang="en-US" b="true" sz="2604" spc="156">
                <a:solidFill>
                  <a:srgbClr val="000000"/>
                </a:solidFill>
                <a:latin typeface="DM Sans Bold"/>
                <a:ea typeface="DM Sans Bold"/>
                <a:cs typeface="DM Sans Bold"/>
                <a:sym typeface="DM Sans Bold"/>
              </a:rPr>
              <a:t>nt</a:t>
            </a:r>
            <a:r>
              <a:rPr lang="en-US" b="true" sz="2604" spc="156" u="none">
                <a:solidFill>
                  <a:srgbClr val="000000"/>
                </a:solidFill>
                <a:latin typeface="DM Sans Bold"/>
                <a:ea typeface="DM Sans Bold"/>
                <a:cs typeface="DM Sans Bold"/>
                <a:sym typeface="DM Sans Bold"/>
              </a:rPr>
              <a:t>eg</a:t>
            </a:r>
            <a:r>
              <a:rPr lang="en-US" b="true" sz="2604" spc="156">
                <a:solidFill>
                  <a:srgbClr val="000000"/>
                </a:solidFill>
                <a:latin typeface="DM Sans Bold"/>
                <a:ea typeface="DM Sans Bold"/>
                <a:cs typeface="DM Sans Bold"/>
                <a:sym typeface="DM Sans Bold"/>
              </a:rPr>
              <a:t>r</a:t>
            </a:r>
            <a:r>
              <a:rPr lang="en-US" b="true" sz="2604" spc="156" u="none">
                <a:solidFill>
                  <a:srgbClr val="000000"/>
                </a:solidFill>
                <a:latin typeface="DM Sans Bold"/>
                <a:ea typeface="DM Sans Bold"/>
                <a:cs typeface="DM Sans Bold"/>
                <a:sym typeface="DM Sans Bold"/>
              </a:rPr>
              <a:t>ati</a:t>
            </a:r>
            <a:r>
              <a:rPr lang="en-US" b="true" sz="2604" spc="156">
                <a:solidFill>
                  <a:srgbClr val="000000"/>
                </a:solidFill>
                <a:latin typeface="DM Sans Bold"/>
                <a:ea typeface="DM Sans Bold"/>
                <a:cs typeface="DM Sans Bold"/>
                <a:sym typeface="DM Sans Bold"/>
              </a:rPr>
              <a:t>o</a:t>
            </a:r>
            <a:r>
              <a:rPr lang="en-US" b="true" sz="2604" spc="156" u="none">
                <a:solidFill>
                  <a:srgbClr val="000000"/>
                </a:solidFill>
                <a:latin typeface="DM Sans Bold"/>
                <a:ea typeface="DM Sans Bold"/>
                <a:cs typeface="DM Sans Bold"/>
                <a:sym typeface="DM Sans Bold"/>
              </a:rPr>
              <a:t>n):</a:t>
            </a:r>
          </a:p>
          <a:p>
            <a:pPr algn="l">
              <a:lnSpc>
                <a:spcPts val="3515"/>
              </a:lnSpc>
            </a:pPr>
            <a:r>
              <a:rPr lang="en-US" sz="2604" spc="156" u="none">
                <a:solidFill>
                  <a:srgbClr val="000000"/>
                </a:solidFill>
                <a:latin typeface="DM Sans"/>
                <a:ea typeface="DM Sans"/>
                <a:cs typeface="DM Sans"/>
                <a:sym typeface="DM Sans"/>
              </a:rPr>
              <a:t>Pre</a:t>
            </a:r>
            <a:r>
              <a:rPr lang="en-US" sz="2604" spc="156">
                <a:solidFill>
                  <a:srgbClr val="000000"/>
                </a:solidFill>
                <a:latin typeface="DM Sans"/>
                <a:ea typeface="DM Sans"/>
                <a:cs typeface="DM Sans"/>
                <a:sym typeface="DM Sans"/>
              </a:rPr>
              <a:t>p</a:t>
            </a:r>
            <a:r>
              <a:rPr lang="en-US" sz="2604" spc="156" u="none">
                <a:solidFill>
                  <a:srgbClr val="000000"/>
                </a:solidFill>
                <a:latin typeface="DM Sans"/>
                <a:ea typeface="DM Sans"/>
                <a:cs typeface="DM Sans"/>
                <a:sym typeface="DM Sans"/>
              </a:rPr>
              <a:t>ared to transition from manual simulation to using the G</a:t>
            </a:r>
            <a:r>
              <a:rPr lang="en-US" sz="2604" spc="156">
                <a:solidFill>
                  <a:srgbClr val="000000"/>
                </a:solidFill>
                <a:latin typeface="DM Sans"/>
                <a:ea typeface="DM Sans"/>
                <a:cs typeface="DM Sans"/>
                <a:sym typeface="DM Sans"/>
              </a:rPr>
              <a:t>y</a:t>
            </a:r>
            <a:r>
              <a:rPr lang="en-US" sz="2604" spc="156" u="none">
                <a:solidFill>
                  <a:srgbClr val="000000"/>
                </a:solidFill>
                <a:latin typeface="DM Sans"/>
                <a:ea typeface="DM Sans"/>
                <a:cs typeface="DM Sans"/>
                <a:sym typeface="DM Sans"/>
              </a:rPr>
              <a:t>m</a:t>
            </a:r>
            <a:r>
              <a:rPr lang="en-US" sz="2604" spc="156">
                <a:solidFill>
                  <a:srgbClr val="000000"/>
                </a:solidFill>
                <a:latin typeface="DM Sans"/>
                <a:ea typeface="DM Sans"/>
                <a:cs typeface="DM Sans"/>
                <a:sym typeface="DM Sans"/>
              </a:rPr>
              <a:t> </a:t>
            </a:r>
            <a:r>
              <a:rPr lang="en-US" sz="2604" spc="156" u="none">
                <a:solidFill>
                  <a:srgbClr val="000000"/>
                </a:solidFill>
                <a:latin typeface="DM Sans"/>
                <a:ea typeface="DM Sans"/>
                <a:cs typeface="DM Sans"/>
                <a:sym typeface="DM Sans"/>
              </a:rPr>
              <a:t>environment for RL by reviewing state/acti</a:t>
            </a:r>
            <a:r>
              <a:rPr lang="en-US" sz="2604" spc="156">
                <a:solidFill>
                  <a:srgbClr val="000000"/>
                </a:solidFill>
                <a:latin typeface="DM Sans"/>
                <a:ea typeface="DM Sans"/>
                <a:cs typeface="DM Sans"/>
                <a:sym typeface="DM Sans"/>
              </a:rPr>
              <a:t>o</a:t>
            </a:r>
            <a:r>
              <a:rPr lang="en-US" sz="2604" spc="156" u="none">
                <a:solidFill>
                  <a:srgbClr val="000000"/>
                </a:solidFill>
                <a:latin typeface="DM Sans"/>
                <a:ea typeface="DM Sans"/>
                <a:cs typeface="DM Sans"/>
                <a:sym typeface="DM Sans"/>
              </a:rPr>
              <a:t>n </a:t>
            </a:r>
            <a:r>
              <a:rPr lang="en-US" sz="2604" spc="156">
                <a:solidFill>
                  <a:srgbClr val="000000"/>
                </a:solidFill>
                <a:latin typeface="DM Sans"/>
                <a:ea typeface="DM Sans"/>
                <a:cs typeface="DM Sans"/>
                <a:sym typeface="DM Sans"/>
              </a:rPr>
              <a:t>s</a:t>
            </a:r>
            <a:r>
              <a:rPr lang="en-US" sz="2604" spc="156" u="none">
                <a:solidFill>
                  <a:srgbClr val="000000"/>
                </a:solidFill>
                <a:latin typeface="DM Sans"/>
                <a:ea typeface="DM Sans"/>
                <a:cs typeface="DM Sans"/>
                <a:sym typeface="DM Sans"/>
              </a:rPr>
              <a:t>pace definition</a:t>
            </a:r>
            <a:r>
              <a:rPr lang="en-US" sz="2604" spc="156">
                <a:solidFill>
                  <a:srgbClr val="000000"/>
                </a:solidFill>
                <a:latin typeface="DM Sans"/>
                <a:ea typeface="DM Sans"/>
                <a:cs typeface="DM Sans"/>
                <a:sym typeface="DM Sans"/>
              </a:rPr>
              <a:t>s </a:t>
            </a:r>
            <a:r>
              <a:rPr lang="en-US" sz="2604" spc="156" u="none">
                <a:solidFill>
                  <a:srgbClr val="000000"/>
                </a:solidFill>
                <a:latin typeface="DM Sans"/>
                <a:ea typeface="DM Sans"/>
                <a:cs typeface="DM Sans"/>
                <a:sym typeface="DM Sans"/>
              </a:rPr>
              <a:t>and simulation results.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AAD7D4"/>
        </a:solidFill>
      </p:bgPr>
    </p:bg>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12574" t="0" r="12607" b="0"/>
          <a:stretch>
            <a:fillRect/>
          </a:stretch>
        </p:blipFill>
        <p:spPr>
          <a:xfrm flipH="false" flipV="false" rot="0">
            <a:off x="11997883" y="1238100"/>
            <a:ext cx="5775767" cy="4113079"/>
          </a:xfrm>
          <a:prstGeom prst="rect">
            <a:avLst/>
          </a:prstGeom>
        </p:spPr>
      </p:pic>
      <p:pic>
        <p:nvPicPr>
          <p:cNvPr name="Picture 3" id="3">
            <a:hlinkClick action="ppaction://media"/>
          </p:cNvPr>
          <p:cNvPicPr>
            <a:picLocks noChangeAspect="true"/>
          </p:cNvPicPr>
          <p:nvPr>
            <a:videoFile r:link="rId6"/>
            <p:extLst>
              <p:ext uri="{DAA4B4D4-6D71-4841-9C94-3DE7FCFB9230}">
                <p14:media xmlns:p14="http://schemas.microsoft.com/office/powerpoint/2010/main" r:embed="rId7"/>
              </p:ext>
            </p:extLst>
          </p:nvPr>
        </p:nvPicPr>
        <p:blipFill>
          <a:blip r:embed="rId5"/>
          <a:srcRect l="0" t="0" r="0" b="0"/>
          <a:stretch>
            <a:fillRect/>
          </a:stretch>
        </p:blipFill>
        <p:spPr>
          <a:xfrm flipH="false" flipV="false" rot="0">
            <a:off x="11997883" y="5716097"/>
            <a:ext cx="5775767" cy="4331825"/>
          </a:xfrm>
          <a:prstGeom prst="rect">
            <a:avLst/>
          </a:prstGeom>
        </p:spPr>
      </p:pic>
      <p:sp>
        <p:nvSpPr>
          <p:cNvPr name="TextBox 4" id="4"/>
          <p:cNvSpPr txBox="true"/>
          <p:nvPr/>
        </p:nvSpPr>
        <p:spPr>
          <a:xfrm rot="0">
            <a:off x="514350" y="190240"/>
            <a:ext cx="17259300" cy="886687"/>
          </a:xfrm>
          <a:prstGeom prst="rect">
            <a:avLst/>
          </a:prstGeom>
        </p:spPr>
        <p:txBody>
          <a:bodyPr anchor="t" rtlCol="false" tIns="0" lIns="0" bIns="0" rIns="0">
            <a:spAutoFit/>
          </a:bodyPr>
          <a:lstStyle/>
          <a:p>
            <a:pPr algn="ctr">
              <a:lnSpc>
                <a:spcPts val="6811"/>
              </a:lnSpc>
              <a:spcBef>
                <a:spcPct val="0"/>
              </a:spcBef>
            </a:pPr>
            <a:r>
              <a:rPr lang="en-US" b="true" sz="6306">
                <a:solidFill>
                  <a:srgbClr val="000000"/>
                </a:solidFill>
                <a:latin typeface="DM Sans Bold"/>
                <a:ea typeface="DM Sans Bold"/>
                <a:cs typeface="DM Sans Bold"/>
                <a:sym typeface="DM Sans Bold"/>
              </a:rPr>
              <a:t>Rationale for using OpenAI Gym Library</a:t>
            </a:r>
          </a:p>
        </p:txBody>
      </p:sp>
      <p:sp>
        <p:nvSpPr>
          <p:cNvPr name="TextBox 5" id="5"/>
          <p:cNvSpPr txBox="true"/>
          <p:nvPr/>
        </p:nvSpPr>
        <p:spPr>
          <a:xfrm rot="0">
            <a:off x="1028700" y="2009422"/>
            <a:ext cx="8794842" cy="7169290"/>
          </a:xfrm>
          <a:prstGeom prst="rect">
            <a:avLst/>
          </a:prstGeom>
        </p:spPr>
        <p:txBody>
          <a:bodyPr anchor="t" rtlCol="false" tIns="0" lIns="0" bIns="0" rIns="0">
            <a:spAutoFit/>
          </a:bodyPr>
          <a:lstStyle/>
          <a:p>
            <a:pPr algn="ctr" marL="673495" indent="-336747" lvl="1">
              <a:lnSpc>
                <a:spcPts val="4367"/>
              </a:lnSpc>
              <a:buFont typeface="Arial"/>
              <a:buChar char="•"/>
            </a:pPr>
            <a:r>
              <a:rPr lang="en-US" sz="3119">
                <a:solidFill>
                  <a:srgbClr val="000000"/>
                </a:solidFill>
                <a:latin typeface="DM Sans"/>
                <a:ea typeface="DM Sans"/>
                <a:cs typeface="DM Sans"/>
                <a:sym typeface="DM Sans"/>
              </a:rPr>
              <a:t>Standardised, reproducible RL environments for fair benchmarking [Brockman et al., 2016]</a:t>
            </a:r>
          </a:p>
          <a:p>
            <a:pPr algn="ctr" marL="673495" indent="-336747" lvl="1">
              <a:lnSpc>
                <a:spcPts val="4367"/>
              </a:lnSpc>
              <a:buFont typeface="Arial"/>
              <a:buChar char="•"/>
            </a:pPr>
            <a:r>
              <a:rPr lang="en-US" sz="3119">
                <a:solidFill>
                  <a:srgbClr val="000000"/>
                </a:solidFill>
                <a:latin typeface="DM Sans"/>
                <a:ea typeface="DM Sans"/>
                <a:cs typeface="DM Sans"/>
                <a:sym typeface="DM Sans"/>
              </a:rPr>
              <a:t>Wide variety of built-in testbeds (classic pole control, Atari, robotics, etc.); as well as our own</a:t>
            </a:r>
          </a:p>
          <a:p>
            <a:pPr algn="ctr" marL="673495" indent="-336747" lvl="1">
              <a:lnSpc>
                <a:spcPts val="4367"/>
              </a:lnSpc>
              <a:buFont typeface="Arial"/>
              <a:buChar char="•"/>
            </a:pPr>
            <a:r>
              <a:rPr lang="en-US" sz="3119">
                <a:solidFill>
                  <a:srgbClr val="000000"/>
                </a:solidFill>
                <a:latin typeface="DM Sans"/>
                <a:ea typeface="DM Sans"/>
                <a:cs typeface="DM Sans"/>
                <a:sym typeface="DM Sans"/>
              </a:rPr>
              <a:t>Seamless compatibility with PyTorch/TensorFlow with pre-defined functions for faster prototyping deep RL research</a:t>
            </a:r>
          </a:p>
          <a:p>
            <a:pPr algn="ctr" marL="673495" indent="-336747" lvl="1">
              <a:lnSpc>
                <a:spcPts val="4367"/>
              </a:lnSpc>
              <a:buFont typeface="Arial"/>
              <a:buChar char="•"/>
            </a:pPr>
            <a:r>
              <a:rPr lang="en-US" sz="3119">
                <a:solidFill>
                  <a:srgbClr val="000000"/>
                </a:solidFill>
                <a:latin typeface="DM Sans"/>
                <a:ea typeface="DM Sans"/>
                <a:cs typeface="DM Sans"/>
                <a:sym typeface="DM Sans"/>
              </a:rPr>
              <a:t>Easy visualization with rendering tool, monitoring, and debugging tools</a:t>
            </a:r>
          </a:p>
          <a:p>
            <a:pPr algn="ctr" marL="673495" indent="-336747" lvl="1">
              <a:lnSpc>
                <a:spcPts val="4367"/>
              </a:lnSpc>
              <a:buFont typeface="Arial"/>
              <a:buChar char="•"/>
            </a:pPr>
            <a:r>
              <a:rPr lang="en-US" sz="3119">
                <a:solidFill>
                  <a:srgbClr val="000000"/>
                </a:solidFill>
                <a:latin typeface="DM Sans"/>
                <a:ea typeface="DM Sans"/>
                <a:cs typeface="DM Sans"/>
                <a:sym typeface="DM Sans"/>
              </a:rPr>
              <a:t>Large community, extensible for custom research tasks</a:t>
            </a:r>
          </a:p>
        </p:txBody>
      </p:sp>
    </p:spTree>
  </p:cSld>
  <p:clrMapOvr>
    <a:masterClrMapping/>
  </p:clrMapOvr>
  <p:timing>
    <p:tnLst>
      <p:par>
        <p:cTn dur="indefinite" restart="never" nodeType="tmRoot">
          <p:childTnLst>
            <p:video>
              <p:cMediaNode vol="0">
                <p:cTn fill="hold" display="false">
                  <p:stCondLst>
                    <p:cond delay="indefinite"/>
                  </p:stCondLst>
                </p:cTn>
                <p:tgtEl>
                  <p:spTgt spid="2"/>
                </p:tgtEl>
              </p:cMediaNode>
            </p:video>
            <p:video>
              <p:cMediaNode vol="0">
                <p:cTn fill="hold" display="false">
                  <p:stCondLst>
                    <p:cond delay="indefinite"/>
                  </p:stCondLst>
                </p:cTn>
                <p:tgtEl>
                  <p:spTgt spid="3"/>
                </p:tgtEl>
              </p:cMediaNode>
            </p:video>
          </p:childTnLst>
        </p:cTn>
      </p:par>
    </p:tnLst>
  </p:timing>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2357988"/>
            <a:ext cx="10721318" cy="6778625"/>
          </a:xfrm>
          <a:prstGeom prst="rect">
            <a:avLst/>
          </a:prstGeom>
        </p:spPr>
        <p:txBody>
          <a:bodyPr anchor="t" rtlCol="false" tIns="0" lIns="0" bIns="0" rIns="0">
            <a:spAutoFit/>
          </a:bodyPr>
          <a:lstStyle/>
          <a:p>
            <a:pPr algn="l">
              <a:lnSpc>
                <a:spcPts val="4899"/>
              </a:lnSpc>
              <a:spcBef>
                <a:spcPct val="0"/>
              </a:spcBef>
            </a:pPr>
            <a:r>
              <a:rPr lang="en-US" sz="3499" spc="-286">
                <a:solidFill>
                  <a:srgbClr val="000000"/>
                </a:solidFill>
                <a:latin typeface="Open Sans"/>
                <a:ea typeface="Open Sans"/>
                <a:cs typeface="Open Sans"/>
                <a:sym typeface="Open Sans"/>
              </a:rPr>
              <a:t>DQN =</a:t>
            </a:r>
            <a:r>
              <a:rPr lang="en-US" sz="3499" spc="-286">
                <a:solidFill>
                  <a:srgbClr val="000000"/>
                </a:solidFill>
                <a:latin typeface="Open Sans"/>
                <a:ea typeface="Open Sans"/>
                <a:cs typeface="Open Sans"/>
                <a:sym typeface="Open Sans"/>
              </a:rPr>
              <a:t> Deep Learning + Q-Learning</a:t>
            </a:r>
          </a:p>
          <a:p>
            <a:pPr algn="l">
              <a:lnSpc>
                <a:spcPts val="4899"/>
              </a:lnSpc>
              <a:spcBef>
                <a:spcPct val="0"/>
              </a:spcBef>
            </a:pPr>
          </a:p>
          <a:p>
            <a:pPr algn="l" marL="755647" indent="-377824" lvl="1">
              <a:lnSpc>
                <a:spcPts val="4899"/>
              </a:lnSpc>
              <a:spcBef>
                <a:spcPct val="0"/>
              </a:spcBef>
              <a:buFont typeface="Arial"/>
              <a:buChar char="•"/>
            </a:pPr>
            <a:r>
              <a:rPr lang="en-US" sz="3499" spc="-286">
                <a:solidFill>
                  <a:srgbClr val="000000"/>
                </a:solidFill>
                <a:latin typeface="Open Sans"/>
                <a:ea typeface="Open Sans"/>
                <a:cs typeface="Open Sans"/>
                <a:sym typeface="Open Sans"/>
              </a:rPr>
              <a:t>Q-learning: Learn a value (Q) for each state-action pair.</a:t>
            </a:r>
          </a:p>
          <a:p>
            <a:pPr algn="l" marL="755647" indent="-377824" lvl="1">
              <a:lnSpc>
                <a:spcPts val="4899"/>
              </a:lnSpc>
              <a:spcBef>
                <a:spcPct val="0"/>
              </a:spcBef>
              <a:buFont typeface="Arial"/>
              <a:buChar char="•"/>
            </a:pPr>
            <a:r>
              <a:rPr lang="en-US" sz="3499" spc="-286">
                <a:solidFill>
                  <a:srgbClr val="000000"/>
                </a:solidFill>
                <a:latin typeface="Open Sans"/>
                <a:ea typeface="Open Sans"/>
                <a:cs typeface="Open Sans"/>
                <a:sym typeface="Open Sans"/>
              </a:rPr>
              <a:t>Deep CNN: Used to estimate Q-values from pixel inputs.</a:t>
            </a:r>
          </a:p>
          <a:p>
            <a:pPr algn="l" marL="755647" indent="-377824" lvl="1">
              <a:lnSpc>
                <a:spcPts val="4899"/>
              </a:lnSpc>
              <a:spcBef>
                <a:spcPct val="0"/>
              </a:spcBef>
              <a:buFont typeface="Arial"/>
              <a:buChar char="•"/>
            </a:pPr>
            <a:r>
              <a:rPr lang="en-US" sz="3499" spc="-286">
                <a:solidFill>
                  <a:srgbClr val="000000"/>
                </a:solidFill>
                <a:latin typeface="Open Sans"/>
                <a:ea typeface="Open Sans"/>
                <a:cs typeface="Open Sans"/>
                <a:sym typeface="Open Sans"/>
              </a:rPr>
              <a:t>Key DQN tricks:</a:t>
            </a:r>
          </a:p>
          <a:p>
            <a:pPr algn="l" marL="1511295" indent="-503765" lvl="2">
              <a:lnSpc>
                <a:spcPts val="4899"/>
              </a:lnSpc>
              <a:spcBef>
                <a:spcPct val="0"/>
              </a:spcBef>
              <a:buFont typeface="Arial"/>
              <a:buChar char="⚬"/>
            </a:pPr>
            <a:r>
              <a:rPr lang="en-US" sz="3499" spc="-286">
                <a:solidFill>
                  <a:srgbClr val="000000"/>
                </a:solidFill>
                <a:latin typeface="Open Sans"/>
                <a:ea typeface="Open Sans"/>
                <a:cs typeface="Open Sans"/>
                <a:sym typeface="Open Sans"/>
              </a:rPr>
              <a:t>Experie</a:t>
            </a:r>
            <a:r>
              <a:rPr lang="en-US" sz="3499" spc="-286">
                <a:solidFill>
                  <a:srgbClr val="000000"/>
                </a:solidFill>
                <a:latin typeface="Open Sans"/>
                <a:ea typeface="Open Sans"/>
                <a:cs typeface="Open Sans"/>
                <a:sym typeface="Open Sans"/>
              </a:rPr>
              <a:t>nce Replay (avoid Catastropic forgetting  [Kirkpatrick et al., 2017])</a:t>
            </a:r>
          </a:p>
          <a:p>
            <a:pPr algn="l" marL="1511295" indent="-503765" lvl="2">
              <a:lnSpc>
                <a:spcPts val="4899"/>
              </a:lnSpc>
              <a:spcBef>
                <a:spcPct val="0"/>
              </a:spcBef>
              <a:buFont typeface="Arial"/>
              <a:buChar char="⚬"/>
            </a:pPr>
            <a:r>
              <a:rPr lang="en-US" sz="3499" spc="-286">
                <a:solidFill>
                  <a:srgbClr val="000000"/>
                </a:solidFill>
                <a:latin typeface="Open Sans"/>
                <a:ea typeface="Open Sans"/>
                <a:cs typeface="Open Sans"/>
                <a:sym typeface="Open Sans"/>
              </a:rPr>
              <a:t>Target Network</a:t>
            </a:r>
          </a:p>
          <a:p>
            <a:pPr algn="l" marL="1511295" indent="-503765" lvl="2">
              <a:lnSpc>
                <a:spcPts val="4899"/>
              </a:lnSpc>
              <a:spcBef>
                <a:spcPct val="0"/>
              </a:spcBef>
              <a:buFont typeface="Arial"/>
              <a:buChar char="⚬"/>
            </a:pPr>
            <a:r>
              <a:rPr lang="en-US" sz="3499" spc="-286">
                <a:solidFill>
                  <a:srgbClr val="000000"/>
                </a:solidFill>
                <a:latin typeface="Open Sans"/>
                <a:ea typeface="Open Sans"/>
                <a:cs typeface="Open Sans"/>
                <a:sym typeface="Open Sans"/>
              </a:rPr>
              <a:t>Reward Clipping</a:t>
            </a:r>
          </a:p>
          <a:p>
            <a:pPr algn="l" marL="1511295" indent="-503765" lvl="2">
              <a:lnSpc>
                <a:spcPts val="4899"/>
              </a:lnSpc>
              <a:spcBef>
                <a:spcPct val="0"/>
              </a:spcBef>
              <a:buFont typeface="Arial"/>
              <a:buChar char="⚬"/>
            </a:pPr>
            <a:r>
              <a:rPr lang="en-US" sz="3499" spc="-286">
                <a:solidFill>
                  <a:srgbClr val="000000"/>
                </a:solidFill>
                <a:latin typeface="Open Sans"/>
                <a:ea typeface="Open Sans"/>
                <a:cs typeface="Open Sans"/>
                <a:sym typeface="Open Sans"/>
              </a:rPr>
              <a:t>Frame Stacking</a:t>
            </a:r>
          </a:p>
          <a:p>
            <a:pPr algn="l" marL="1511295" indent="-503765" lvl="2">
              <a:lnSpc>
                <a:spcPts val="4899"/>
              </a:lnSpc>
              <a:spcBef>
                <a:spcPct val="0"/>
              </a:spcBef>
              <a:buFont typeface="Arial"/>
              <a:buChar char="⚬"/>
            </a:pPr>
            <a:r>
              <a:rPr lang="en-US" sz="3499" spc="-286">
                <a:solidFill>
                  <a:srgbClr val="000000"/>
                </a:solidFill>
                <a:latin typeface="Open Sans"/>
                <a:ea typeface="Open Sans"/>
                <a:cs typeface="Open Sans"/>
                <a:sym typeface="Open Sans"/>
              </a:rPr>
              <a:t>REINFORCE Policy Gradient</a:t>
            </a:r>
          </a:p>
        </p:txBody>
      </p:sp>
      <p:grpSp>
        <p:nvGrpSpPr>
          <p:cNvPr name="Group 3" id="3"/>
          <p:cNvGrpSpPr/>
          <p:nvPr/>
        </p:nvGrpSpPr>
        <p:grpSpPr>
          <a:xfrm rot="0">
            <a:off x="12857910" y="1837248"/>
            <a:ext cx="3814369" cy="1138044"/>
            <a:chOff x="0" y="0"/>
            <a:chExt cx="1276891" cy="380969"/>
          </a:xfrm>
        </p:grpSpPr>
        <p:sp>
          <p:nvSpPr>
            <p:cNvPr name="Freeform 4" id="4"/>
            <p:cNvSpPr/>
            <p:nvPr/>
          </p:nvSpPr>
          <p:spPr>
            <a:xfrm flipH="false" flipV="false" rot="0">
              <a:off x="0" y="0"/>
              <a:ext cx="1276891" cy="380969"/>
            </a:xfrm>
            <a:custGeom>
              <a:avLst/>
              <a:gdLst/>
              <a:ahLst/>
              <a:cxnLst/>
              <a:rect r="r" b="b" t="t" l="l"/>
              <a:pathLst>
                <a:path h="380969" w="1276891">
                  <a:moveTo>
                    <a:pt x="101484" y="0"/>
                  </a:moveTo>
                  <a:lnTo>
                    <a:pt x="1175408" y="0"/>
                  </a:lnTo>
                  <a:cubicBezTo>
                    <a:pt x="1202323" y="0"/>
                    <a:pt x="1228136" y="10692"/>
                    <a:pt x="1247168" y="29724"/>
                  </a:cubicBezTo>
                  <a:cubicBezTo>
                    <a:pt x="1266199" y="48756"/>
                    <a:pt x="1276891" y="74568"/>
                    <a:pt x="1276891" y="101484"/>
                  </a:cubicBezTo>
                  <a:lnTo>
                    <a:pt x="1276891" y="279486"/>
                  </a:lnTo>
                  <a:cubicBezTo>
                    <a:pt x="1276891" y="335534"/>
                    <a:pt x="1231456" y="380969"/>
                    <a:pt x="1175408" y="380969"/>
                  </a:cubicBezTo>
                  <a:lnTo>
                    <a:pt x="101484" y="380969"/>
                  </a:lnTo>
                  <a:cubicBezTo>
                    <a:pt x="45436" y="380969"/>
                    <a:pt x="0" y="335534"/>
                    <a:pt x="0" y="279486"/>
                  </a:cubicBezTo>
                  <a:lnTo>
                    <a:pt x="0" y="101484"/>
                  </a:lnTo>
                  <a:cubicBezTo>
                    <a:pt x="0" y="45436"/>
                    <a:pt x="45436" y="0"/>
                    <a:pt x="101484" y="0"/>
                  </a:cubicBezTo>
                  <a:close/>
                </a:path>
              </a:pathLst>
            </a:custGeom>
            <a:solidFill>
              <a:srgbClr val="AAD7D4"/>
            </a:solidFill>
          </p:spPr>
        </p:sp>
        <p:sp>
          <p:nvSpPr>
            <p:cNvPr name="TextBox 5" id="5"/>
            <p:cNvSpPr txBox="true"/>
            <p:nvPr/>
          </p:nvSpPr>
          <p:spPr>
            <a:xfrm>
              <a:off x="0" y="104775"/>
              <a:ext cx="1276891" cy="276194"/>
            </a:xfrm>
            <a:prstGeom prst="rect">
              <a:avLst/>
            </a:prstGeom>
          </p:spPr>
          <p:txBody>
            <a:bodyPr anchor="ctr" rtlCol="false" tIns="50800" lIns="50800" bIns="50800" rIns="50800"/>
            <a:lstStyle/>
            <a:p>
              <a:pPr algn="ctr">
                <a:lnSpc>
                  <a:spcPts val="2233"/>
                </a:lnSpc>
              </a:pPr>
              <a:r>
                <a:rPr lang="en-US" sz="2900" spc="-237">
                  <a:solidFill>
                    <a:srgbClr val="000000"/>
                  </a:solidFill>
                  <a:latin typeface="Public Sans"/>
                  <a:ea typeface="Public Sans"/>
                  <a:cs typeface="Public Sans"/>
                  <a:sym typeface="Public Sans"/>
                </a:rPr>
                <a:t>Game Screen </a:t>
              </a:r>
            </a:p>
          </p:txBody>
        </p:sp>
      </p:grpSp>
      <p:grpSp>
        <p:nvGrpSpPr>
          <p:cNvPr name="Group 6" id="6"/>
          <p:cNvGrpSpPr/>
          <p:nvPr/>
        </p:nvGrpSpPr>
        <p:grpSpPr>
          <a:xfrm rot="0">
            <a:off x="12857910" y="3362760"/>
            <a:ext cx="3814369" cy="1138044"/>
            <a:chOff x="0" y="0"/>
            <a:chExt cx="1276891" cy="380969"/>
          </a:xfrm>
        </p:grpSpPr>
        <p:sp>
          <p:nvSpPr>
            <p:cNvPr name="Freeform 7" id="7"/>
            <p:cNvSpPr/>
            <p:nvPr/>
          </p:nvSpPr>
          <p:spPr>
            <a:xfrm flipH="false" flipV="false" rot="0">
              <a:off x="0" y="0"/>
              <a:ext cx="1276891" cy="380969"/>
            </a:xfrm>
            <a:custGeom>
              <a:avLst/>
              <a:gdLst/>
              <a:ahLst/>
              <a:cxnLst/>
              <a:rect r="r" b="b" t="t" l="l"/>
              <a:pathLst>
                <a:path h="380969" w="1276891">
                  <a:moveTo>
                    <a:pt x="101484" y="0"/>
                  </a:moveTo>
                  <a:lnTo>
                    <a:pt x="1175408" y="0"/>
                  </a:lnTo>
                  <a:cubicBezTo>
                    <a:pt x="1202323" y="0"/>
                    <a:pt x="1228136" y="10692"/>
                    <a:pt x="1247168" y="29724"/>
                  </a:cubicBezTo>
                  <a:cubicBezTo>
                    <a:pt x="1266199" y="48756"/>
                    <a:pt x="1276891" y="74568"/>
                    <a:pt x="1276891" y="101484"/>
                  </a:cubicBezTo>
                  <a:lnTo>
                    <a:pt x="1276891" y="279486"/>
                  </a:lnTo>
                  <a:cubicBezTo>
                    <a:pt x="1276891" y="335534"/>
                    <a:pt x="1231456" y="380969"/>
                    <a:pt x="1175408" y="380969"/>
                  </a:cubicBezTo>
                  <a:lnTo>
                    <a:pt x="101484" y="380969"/>
                  </a:lnTo>
                  <a:cubicBezTo>
                    <a:pt x="45436" y="380969"/>
                    <a:pt x="0" y="335534"/>
                    <a:pt x="0" y="279486"/>
                  </a:cubicBezTo>
                  <a:lnTo>
                    <a:pt x="0" y="101484"/>
                  </a:lnTo>
                  <a:cubicBezTo>
                    <a:pt x="0" y="45436"/>
                    <a:pt x="45436" y="0"/>
                    <a:pt x="101484" y="0"/>
                  </a:cubicBezTo>
                  <a:close/>
                </a:path>
              </a:pathLst>
            </a:custGeom>
            <a:solidFill>
              <a:srgbClr val="AAD7D4"/>
            </a:solidFill>
          </p:spPr>
        </p:sp>
        <p:sp>
          <p:nvSpPr>
            <p:cNvPr name="TextBox 8" id="8"/>
            <p:cNvSpPr txBox="true"/>
            <p:nvPr/>
          </p:nvSpPr>
          <p:spPr>
            <a:xfrm>
              <a:off x="0" y="104775"/>
              <a:ext cx="1276891" cy="276194"/>
            </a:xfrm>
            <a:prstGeom prst="rect">
              <a:avLst/>
            </a:prstGeom>
          </p:spPr>
          <p:txBody>
            <a:bodyPr anchor="ctr" rtlCol="false" tIns="50800" lIns="50800" bIns="50800" rIns="50800"/>
            <a:lstStyle/>
            <a:p>
              <a:pPr algn="ctr">
                <a:lnSpc>
                  <a:spcPts val="2233"/>
                </a:lnSpc>
              </a:pPr>
              <a:r>
                <a:rPr lang="en-US" sz="2900" spc="-237">
                  <a:solidFill>
                    <a:srgbClr val="000000"/>
                  </a:solidFill>
                  <a:latin typeface="Public Sans"/>
                  <a:ea typeface="Public Sans"/>
                  <a:cs typeface="Public Sans"/>
                  <a:sym typeface="Public Sans"/>
                </a:rPr>
                <a:t>Convolutional Layers</a:t>
              </a:r>
            </a:p>
          </p:txBody>
        </p:sp>
      </p:grpSp>
      <p:grpSp>
        <p:nvGrpSpPr>
          <p:cNvPr name="Group 9" id="9"/>
          <p:cNvGrpSpPr/>
          <p:nvPr/>
        </p:nvGrpSpPr>
        <p:grpSpPr>
          <a:xfrm rot="0">
            <a:off x="12857910" y="4891329"/>
            <a:ext cx="3814369" cy="1138044"/>
            <a:chOff x="0" y="0"/>
            <a:chExt cx="1276891" cy="380969"/>
          </a:xfrm>
        </p:grpSpPr>
        <p:sp>
          <p:nvSpPr>
            <p:cNvPr name="Freeform 10" id="10"/>
            <p:cNvSpPr/>
            <p:nvPr/>
          </p:nvSpPr>
          <p:spPr>
            <a:xfrm flipH="false" flipV="false" rot="0">
              <a:off x="0" y="0"/>
              <a:ext cx="1276891" cy="380969"/>
            </a:xfrm>
            <a:custGeom>
              <a:avLst/>
              <a:gdLst/>
              <a:ahLst/>
              <a:cxnLst/>
              <a:rect r="r" b="b" t="t" l="l"/>
              <a:pathLst>
                <a:path h="380969" w="1276891">
                  <a:moveTo>
                    <a:pt x="101484" y="0"/>
                  </a:moveTo>
                  <a:lnTo>
                    <a:pt x="1175408" y="0"/>
                  </a:lnTo>
                  <a:cubicBezTo>
                    <a:pt x="1202323" y="0"/>
                    <a:pt x="1228136" y="10692"/>
                    <a:pt x="1247168" y="29724"/>
                  </a:cubicBezTo>
                  <a:cubicBezTo>
                    <a:pt x="1266199" y="48756"/>
                    <a:pt x="1276891" y="74568"/>
                    <a:pt x="1276891" y="101484"/>
                  </a:cubicBezTo>
                  <a:lnTo>
                    <a:pt x="1276891" y="279486"/>
                  </a:lnTo>
                  <a:cubicBezTo>
                    <a:pt x="1276891" y="335534"/>
                    <a:pt x="1231456" y="380969"/>
                    <a:pt x="1175408" y="380969"/>
                  </a:cubicBezTo>
                  <a:lnTo>
                    <a:pt x="101484" y="380969"/>
                  </a:lnTo>
                  <a:cubicBezTo>
                    <a:pt x="45436" y="380969"/>
                    <a:pt x="0" y="335534"/>
                    <a:pt x="0" y="279486"/>
                  </a:cubicBezTo>
                  <a:lnTo>
                    <a:pt x="0" y="101484"/>
                  </a:lnTo>
                  <a:cubicBezTo>
                    <a:pt x="0" y="45436"/>
                    <a:pt x="45436" y="0"/>
                    <a:pt x="101484" y="0"/>
                  </a:cubicBezTo>
                  <a:close/>
                </a:path>
              </a:pathLst>
            </a:custGeom>
            <a:solidFill>
              <a:srgbClr val="AAD7D4"/>
            </a:solidFill>
          </p:spPr>
        </p:sp>
        <p:sp>
          <p:nvSpPr>
            <p:cNvPr name="TextBox 11" id="11"/>
            <p:cNvSpPr txBox="true"/>
            <p:nvPr/>
          </p:nvSpPr>
          <p:spPr>
            <a:xfrm>
              <a:off x="0" y="104775"/>
              <a:ext cx="1276891" cy="276194"/>
            </a:xfrm>
            <a:prstGeom prst="rect">
              <a:avLst/>
            </a:prstGeom>
          </p:spPr>
          <p:txBody>
            <a:bodyPr anchor="ctr" rtlCol="false" tIns="50800" lIns="50800" bIns="50800" rIns="50800"/>
            <a:lstStyle/>
            <a:p>
              <a:pPr algn="ctr">
                <a:lnSpc>
                  <a:spcPts val="2233"/>
                </a:lnSpc>
              </a:pPr>
              <a:r>
                <a:rPr lang="en-US" sz="2900" spc="-237">
                  <a:solidFill>
                    <a:srgbClr val="000000"/>
                  </a:solidFill>
                  <a:latin typeface="Public Sans"/>
                  <a:ea typeface="Public Sans"/>
                  <a:cs typeface="Public Sans"/>
                  <a:sym typeface="Public Sans"/>
                </a:rPr>
                <a:t>Fully connected Layers</a:t>
              </a:r>
            </a:p>
          </p:txBody>
        </p:sp>
      </p:grpSp>
      <p:grpSp>
        <p:nvGrpSpPr>
          <p:cNvPr name="Group 12" id="12"/>
          <p:cNvGrpSpPr/>
          <p:nvPr/>
        </p:nvGrpSpPr>
        <p:grpSpPr>
          <a:xfrm rot="0">
            <a:off x="12857910" y="6419898"/>
            <a:ext cx="3814369" cy="1138044"/>
            <a:chOff x="0" y="0"/>
            <a:chExt cx="1276891" cy="380969"/>
          </a:xfrm>
        </p:grpSpPr>
        <p:sp>
          <p:nvSpPr>
            <p:cNvPr name="Freeform 13" id="13"/>
            <p:cNvSpPr/>
            <p:nvPr/>
          </p:nvSpPr>
          <p:spPr>
            <a:xfrm flipH="false" flipV="false" rot="0">
              <a:off x="0" y="0"/>
              <a:ext cx="1276891" cy="380969"/>
            </a:xfrm>
            <a:custGeom>
              <a:avLst/>
              <a:gdLst/>
              <a:ahLst/>
              <a:cxnLst/>
              <a:rect r="r" b="b" t="t" l="l"/>
              <a:pathLst>
                <a:path h="380969" w="1276891">
                  <a:moveTo>
                    <a:pt x="101484" y="0"/>
                  </a:moveTo>
                  <a:lnTo>
                    <a:pt x="1175408" y="0"/>
                  </a:lnTo>
                  <a:cubicBezTo>
                    <a:pt x="1202323" y="0"/>
                    <a:pt x="1228136" y="10692"/>
                    <a:pt x="1247168" y="29724"/>
                  </a:cubicBezTo>
                  <a:cubicBezTo>
                    <a:pt x="1266199" y="48756"/>
                    <a:pt x="1276891" y="74568"/>
                    <a:pt x="1276891" y="101484"/>
                  </a:cubicBezTo>
                  <a:lnTo>
                    <a:pt x="1276891" y="279486"/>
                  </a:lnTo>
                  <a:cubicBezTo>
                    <a:pt x="1276891" y="335534"/>
                    <a:pt x="1231456" y="380969"/>
                    <a:pt x="1175408" y="380969"/>
                  </a:cubicBezTo>
                  <a:lnTo>
                    <a:pt x="101484" y="380969"/>
                  </a:lnTo>
                  <a:cubicBezTo>
                    <a:pt x="45436" y="380969"/>
                    <a:pt x="0" y="335534"/>
                    <a:pt x="0" y="279486"/>
                  </a:cubicBezTo>
                  <a:lnTo>
                    <a:pt x="0" y="101484"/>
                  </a:lnTo>
                  <a:cubicBezTo>
                    <a:pt x="0" y="45436"/>
                    <a:pt x="45436" y="0"/>
                    <a:pt x="101484" y="0"/>
                  </a:cubicBezTo>
                  <a:close/>
                </a:path>
              </a:pathLst>
            </a:custGeom>
            <a:solidFill>
              <a:srgbClr val="AAD7D4"/>
            </a:solidFill>
          </p:spPr>
        </p:sp>
        <p:sp>
          <p:nvSpPr>
            <p:cNvPr name="TextBox 14" id="14"/>
            <p:cNvSpPr txBox="true"/>
            <p:nvPr/>
          </p:nvSpPr>
          <p:spPr>
            <a:xfrm>
              <a:off x="0" y="104775"/>
              <a:ext cx="1276891" cy="276194"/>
            </a:xfrm>
            <a:prstGeom prst="rect">
              <a:avLst/>
            </a:prstGeom>
          </p:spPr>
          <p:txBody>
            <a:bodyPr anchor="ctr" rtlCol="false" tIns="50800" lIns="50800" bIns="50800" rIns="50800"/>
            <a:lstStyle/>
            <a:p>
              <a:pPr algn="ctr">
                <a:lnSpc>
                  <a:spcPts val="2233"/>
                </a:lnSpc>
              </a:pPr>
              <a:r>
                <a:rPr lang="en-US" sz="2900" spc="-237">
                  <a:solidFill>
                    <a:srgbClr val="000000"/>
                  </a:solidFill>
                  <a:latin typeface="Public Sans"/>
                  <a:ea typeface="Public Sans"/>
                  <a:cs typeface="Public Sans"/>
                  <a:sym typeface="Public Sans"/>
                </a:rPr>
                <a:t>Q-values for actions</a:t>
              </a:r>
            </a:p>
          </p:txBody>
        </p:sp>
      </p:grpSp>
      <p:grpSp>
        <p:nvGrpSpPr>
          <p:cNvPr name="Group 15" id="15"/>
          <p:cNvGrpSpPr/>
          <p:nvPr/>
        </p:nvGrpSpPr>
        <p:grpSpPr>
          <a:xfrm rot="0">
            <a:off x="12857910" y="7948466"/>
            <a:ext cx="3814369" cy="1138044"/>
            <a:chOff x="0" y="0"/>
            <a:chExt cx="1276891" cy="380969"/>
          </a:xfrm>
        </p:grpSpPr>
        <p:sp>
          <p:nvSpPr>
            <p:cNvPr name="Freeform 16" id="16"/>
            <p:cNvSpPr/>
            <p:nvPr/>
          </p:nvSpPr>
          <p:spPr>
            <a:xfrm flipH="false" flipV="false" rot="0">
              <a:off x="0" y="0"/>
              <a:ext cx="1276891" cy="380969"/>
            </a:xfrm>
            <a:custGeom>
              <a:avLst/>
              <a:gdLst/>
              <a:ahLst/>
              <a:cxnLst/>
              <a:rect r="r" b="b" t="t" l="l"/>
              <a:pathLst>
                <a:path h="380969" w="1276891">
                  <a:moveTo>
                    <a:pt x="101484" y="0"/>
                  </a:moveTo>
                  <a:lnTo>
                    <a:pt x="1175408" y="0"/>
                  </a:lnTo>
                  <a:cubicBezTo>
                    <a:pt x="1202323" y="0"/>
                    <a:pt x="1228136" y="10692"/>
                    <a:pt x="1247168" y="29724"/>
                  </a:cubicBezTo>
                  <a:cubicBezTo>
                    <a:pt x="1266199" y="48756"/>
                    <a:pt x="1276891" y="74568"/>
                    <a:pt x="1276891" y="101484"/>
                  </a:cubicBezTo>
                  <a:lnTo>
                    <a:pt x="1276891" y="279486"/>
                  </a:lnTo>
                  <a:cubicBezTo>
                    <a:pt x="1276891" y="335534"/>
                    <a:pt x="1231456" y="380969"/>
                    <a:pt x="1175408" y="380969"/>
                  </a:cubicBezTo>
                  <a:lnTo>
                    <a:pt x="101484" y="380969"/>
                  </a:lnTo>
                  <a:cubicBezTo>
                    <a:pt x="45436" y="380969"/>
                    <a:pt x="0" y="335534"/>
                    <a:pt x="0" y="279486"/>
                  </a:cubicBezTo>
                  <a:lnTo>
                    <a:pt x="0" y="101484"/>
                  </a:lnTo>
                  <a:cubicBezTo>
                    <a:pt x="0" y="45436"/>
                    <a:pt x="45436" y="0"/>
                    <a:pt x="101484" y="0"/>
                  </a:cubicBezTo>
                  <a:close/>
                </a:path>
              </a:pathLst>
            </a:custGeom>
            <a:solidFill>
              <a:srgbClr val="AAD7D4"/>
            </a:solidFill>
          </p:spPr>
        </p:sp>
        <p:sp>
          <p:nvSpPr>
            <p:cNvPr name="TextBox 17" id="17"/>
            <p:cNvSpPr txBox="true"/>
            <p:nvPr/>
          </p:nvSpPr>
          <p:spPr>
            <a:xfrm>
              <a:off x="0" y="104775"/>
              <a:ext cx="1276891" cy="276194"/>
            </a:xfrm>
            <a:prstGeom prst="rect">
              <a:avLst/>
            </a:prstGeom>
          </p:spPr>
          <p:txBody>
            <a:bodyPr anchor="ctr" rtlCol="false" tIns="50800" lIns="50800" bIns="50800" rIns="50800"/>
            <a:lstStyle/>
            <a:p>
              <a:pPr algn="ctr">
                <a:lnSpc>
                  <a:spcPts val="2233"/>
                </a:lnSpc>
              </a:pPr>
              <a:r>
                <a:rPr lang="en-US" sz="2900" spc="-237">
                  <a:solidFill>
                    <a:srgbClr val="000000"/>
                  </a:solidFill>
                  <a:latin typeface="Public Sans"/>
                  <a:ea typeface="Public Sans"/>
                  <a:cs typeface="Public Sans"/>
                  <a:sym typeface="Public Sans"/>
                </a:rPr>
                <a:t>Actions</a:t>
              </a:r>
            </a:p>
          </p:txBody>
        </p:sp>
      </p:grpSp>
      <p:grpSp>
        <p:nvGrpSpPr>
          <p:cNvPr name="Group 18" id="18"/>
          <p:cNvGrpSpPr/>
          <p:nvPr/>
        </p:nvGrpSpPr>
        <p:grpSpPr>
          <a:xfrm rot="-10800000">
            <a:off x="14545825" y="2975292"/>
            <a:ext cx="438539" cy="438539"/>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lnTo>
                    <a:pt x="0" y="406400"/>
                  </a:lnTo>
                  <a:lnTo>
                    <a:pt x="203200" y="406400"/>
                  </a:lnTo>
                  <a:lnTo>
                    <a:pt x="203200" y="812800"/>
                  </a:lnTo>
                  <a:lnTo>
                    <a:pt x="609600" y="812800"/>
                  </a:lnTo>
                  <a:lnTo>
                    <a:pt x="609600" y="406400"/>
                  </a:lnTo>
                  <a:lnTo>
                    <a:pt x="812800" y="406400"/>
                  </a:lnTo>
                  <a:lnTo>
                    <a:pt x="406400" y="0"/>
                  </a:lnTo>
                  <a:close/>
                </a:path>
              </a:pathLst>
            </a:custGeom>
            <a:solidFill>
              <a:srgbClr val="AAD7D4"/>
            </a:solidFill>
          </p:spPr>
        </p:sp>
        <p:sp>
          <p:nvSpPr>
            <p:cNvPr name="TextBox 20" id="20"/>
            <p:cNvSpPr txBox="true"/>
            <p:nvPr/>
          </p:nvSpPr>
          <p:spPr>
            <a:xfrm>
              <a:off x="203200" y="187325"/>
              <a:ext cx="406400" cy="625475"/>
            </a:xfrm>
            <a:prstGeom prst="rect">
              <a:avLst/>
            </a:prstGeom>
          </p:spPr>
          <p:txBody>
            <a:bodyPr anchor="ctr" rtlCol="false" tIns="50800" lIns="50800" bIns="50800" rIns="50800"/>
            <a:lstStyle/>
            <a:p>
              <a:pPr algn="ctr">
                <a:lnSpc>
                  <a:spcPts val="1925"/>
                </a:lnSpc>
              </a:pPr>
            </a:p>
          </p:txBody>
        </p:sp>
      </p:grpSp>
      <p:grpSp>
        <p:nvGrpSpPr>
          <p:cNvPr name="Group 21" id="21"/>
          <p:cNvGrpSpPr/>
          <p:nvPr/>
        </p:nvGrpSpPr>
        <p:grpSpPr>
          <a:xfrm rot="-10800000">
            <a:off x="14545825" y="4500804"/>
            <a:ext cx="438539" cy="438539"/>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lnTo>
                    <a:pt x="0" y="406400"/>
                  </a:lnTo>
                  <a:lnTo>
                    <a:pt x="203200" y="406400"/>
                  </a:lnTo>
                  <a:lnTo>
                    <a:pt x="203200" y="812800"/>
                  </a:lnTo>
                  <a:lnTo>
                    <a:pt x="609600" y="812800"/>
                  </a:lnTo>
                  <a:lnTo>
                    <a:pt x="609600" y="406400"/>
                  </a:lnTo>
                  <a:lnTo>
                    <a:pt x="812800" y="406400"/>
                  </a:lnTo>
                  <a:lnTo>
                    <a:pt x="406400" y="0"/>
                  </a:lnTo>
                  <a:close/>
                </a:path>
              </a:pathLst>
            </a:custGeom>
            <a:solidFill>
              <a:srgbClr val="AAD7D4"/>
            </a:solidFill>
          </p:spPr>
        </p:sp>
        <p:sp>
          <p:nvSpPr>
            <p:cNvPr name="TextBox 23" id="23"/>
            <p:cNvSpPr txBox="true"/>
            <p:nvPr/>
          </p:nvSpPr>
          <p:spPr>
            <a:xfrm>
              <a:off x="203200" y="187325"/>
              <a:ext cx="406400" cy="625475"/>
            </a:xfrm>
            <a:prstGeom prst="rect">
              <a:avLst/>
            </a:prstGeom>
          </p:spPr>
          <p:txBody>
            <a:bodyPr anchor="ctr" rtlCol="false" tIns="50800" lIns="50800" bIns="50800" rIns="50800"/>
            <a:lstStyle/>
            <a:p>
              <a:pPr algn="ctr">
                <a:lnSpc>
                  <a:spcPts val="1925"/>
                </a:lnSpc>
              </a:pPr>
            </a:p>
          </p:txBody>
        </p:sp>
      </p:grpSp>
      <p:grpSp>
        <p:nvGrpSpPr>
          <p:cNvPr name="Group 24" id="24"/>
          <p:cNvGrpSpPr/>
          <p:nvPr/>
        </p:nvGrpSpPr>
        <p:grpSpPr>
          <a:xfrm rot="-10800000">
            <a:off x="14545825" y="6005366"/>
            <a:ext cx="438539" cy="438539"/>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lnTo>
                    <a:pt x="0" y="406400"/>
                  </a:lnTo>
                  <a:lnTo>
                    <a:pt x="203200" y="406400"/>
                  </a:lnTo>
                  <a:lnTo>
                    <a:pt x="203200" y="812800"/>
                  </a:lnTo>
                  <a:lnTo>
                    <a:pt x="609600" y="812800"/>
                  </a:lnTo>
                  <a:lnTo>
                    <a:pt x="609600" y="406400"/>
                  </a:lnTo>
                  <a:lnTo>
                    <a:pt x="812800" y="406400"/>
                  </a:lnTo>
                  <a:lnTo>
                    <a:pt x="406400" y="0"/>
                  </a:lnTo>
                  <a:close/>
                </a:path>
              </a:pathLst>
            </a:custGeom>
            <a:solidFill>
              <a:srgbClr val="AAD7D4"/>
            </a:solidFill>
          </p:spPr>
        </p:sp>
        <p:sp>
          <p:nvSpPr>
            <p:cNvPr name="TextBox 26" id="26"/>
            <p:cNvSpPr txBox="true"/>
            <p:nvPr/>
          </p:nvSpPr>
          <p:spPr>
            <a:xfrm>
              <a:off x="203200" y="187325"/>
              <a:ext cx="406400" cy="625475"/>
            </a:xfrm>
            <a:prstGeom prst="rect">
              <a:avLst/>
            </a:prstGeom>
          </p:spPr>
          <p:txBody>
            <a:bodyPr anchor="ctr" rtlCol="false" tIns="50800" lIns="50800" bIns="50800" rIns="50800"/>
            <a:lstStyle/>
            <a:p>
              <a:pPr algn="ctr">
                <a:lnSpc>
                  <a:spcPts val="1925"/>
                </a:lnSpc>
              </a:pPr>
            </a:p>
          </p:txBody>
        </p:sp>
      </p:grpSp>
      <p:grpSp>
        <p:nvGrpSpPr>
          <p:cNvPr name="Group 27" id="27"/>
          <p:cNvGrpSpPr/>
          <p:nvPr/>
        </p:nvGrpSpPr>
        <p:grpSpPr>
          <a:xfrm rot="-10800000">
            <a:off x="14545825" y="7557941"/>
            <a:ext cx="438539" cy="438539"/>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lnTo>
                    <a:pt x="0" y="406400"/>
                  </a:lnTo>
                  <a:lnTo>
                    <a:pt x="203200" y="406400"/>
                  </a:lnTo>
                  <a:lnTo>
                    <a:pt x="203200" y="812800"/>
                  </a:lnTo>
                  <a:lnTo>
                    <a:pt x="609600" y="812800"/>
                  </a:lnTo>
                  <a:lnTo>
                    <a:pt x="609600" y="406400"/>
                  </a:lnTo>
                  <a:lnTo>
                    <a:pt x="812800" y="406400"/>
                  </a:lnTo>
                  <a:lnTo>
                    <a:pt x="406400" y="0"/>
                  </a:lnTo>
                  <a:close/>
                </a:path>
              </a:pathLst>
            </a:custGeom>
            <a:solidFill>
              <a:srgbClr val="AAD7D4"/>
            </a:solidFill>
          </p:spPr>
        </p:sp>
        <p:sp>
          <p:nvSpPr>
            <p:cNvPr name="TextBox 29" id="29"/>
            <p:cNvSpPr txBox="true"/>
            <p:nvPr/>
          </p:nvSpPr>
          <p:spPr>
            <a:xfrm>
              <a:off x="203200" y="187325"/>
              <a:ext cx="406400" cy="625475"/>
            </a:xfrm>
            <a:prstGeom prst="rect">
              <a:avLst/>
            </a:prstGeom>
          </p:spPr>
          <p:txBody>
            <a:bodyPr anchor="ctr" rtlCol="false" tIns="50800" lIns="50800" bIns="50800" rIns="50800"/>
            <a:lstStyle/>
            <a:p>
              <a:pPr algn="ctr">
                <a:lnSpc>
                  <a:spcPts val="1925"/>
                </a:lnSpc>
              </a:pPr>
            </a:p>
          </p:txBody>
        </p:sp>
      </p:grpSp>
      <p:sp>
        <p:nvSpPr>
          <p:cNvPr name="Freeform 30" id="30"/>
          <p:cNvSpPr/>
          <p:nvPr/>
        </p:nvSpPr>
        <p:spPr>
          <a:xfrm flipH="false" flipV="false" rot="0">
            <a:off x="8684209" y="6280539"/>
            <a:ext cx="3440485" cy="3431884"/>
          </a:xfrm>
          <a:custGeom>
            <a:avLst/>
            <a:gdLst/>
            <a:ahLst/>
            <a:cxnLst/>
            <a:rect r="r" b="b" t="t" l="l"/>
            <a:pathLst>
              <a:path h="3431884" w="3440485">
                <a:moveTo>
                  <a:pt x="0" y="0"/>
                </a:moveTo>
                <a:lnTo>
                  <a:pt x="3440485" y="0"/>
                </a:lnTo>
                <a:lnTo>
                  <a:pt x="3440485" y="3431883"/>
                </a:lnTo>
                <a:lnTo>
                  <a:pt x="0" y="3431883"/>
                </a:lnTo>
                <a:lnTo>
                  <a:pt x="0" y="0"/>
                </a:lnTo>
                <a:close/>
              </a:path>
            </a:pathLst>
          </a:custGeom>
          <a:blipFill>
            <a:blip r:embed="rId3"/>
            <a:stretch>
              <a:fillRect l="0" t="0" r="0" b="0"/>
            </a:stretch>
          </a:blipFill>
        </p:spPr>
      </p:sp>
      <p:sp>
        <p:nvSpPr>
          <p:cNvPr name="TextBox 31" id="31"/>
          <p:cNvSpPr txBox="true"/>
          <p:nvPr/>
        </p:nvSpPr>
        <p:spPr>
          <a:xfrm rot="0">
            <a:off x="948333" y="1550746"/>
            <a:ext cx="9144000" cy="778511"/>
          </a:xfrm>
          <a:prstGeom prst="rect">
            <a:avLst/>
          </a:prstGeom>
        </p:spPr>
        <p:txBody>
          <a:bodyPr anchor="t" rtlCol="false" tIns="0" lIns="0" bIns="0" rIns="0">
            <a:spAutoFit/>
          </a:bodyPr>
          <a:lstStyle/>
          <a:p>
            <a:pPr algn="l">
              <a:lnSpc>
                <a:spcPts val="6439"/>
              </a:lnSpc>
              <a:spcBef>
                <a:spcPct val="0"/>
              </a:spcBef>
            </a:pPr>
            <a:r>
              <a:rPr lang="en-US" b="true" sz="4599" spc="-377">
                <a:solidFill>
                  <a:srgbClr val="000000"/>
                </a:solidFill>
                <a:latin typeface="Comic Sans Bold"/>
                <a:ea typeface="Comic Sans Bold"/>
                <a:cs typeface="Comic Sans Bold"/>
                <a:sym typeface="Comic Sans Bold"/>
              </a:rPr>
              <a:t>What is Deep Q-Network (DQN)?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795537" y="668323"/>
            <a:ext cx="3937862" cy="2864794"/>
          </a:xfrm>
          <a:custGeom>
            <a:avLst/>
            <a:gdLst/>
            <a:ahLst/>
            <a:cxnLst/>
            <a:rect r="r" b="b" t="t" l="l"/>
            <a:pathLst>
              <a:path h="2864794" w="3937862">
                <a:moveTo>
                  <a:pt x="0" y="0"/>
                </a:moveTo>
                <a:lnTo>
                  <a:pt x="3937862" y="0"/>
                </a:lnTo>
                <a:lnTo>
                  <a:pt x="3937862" y="2864795"/>
                </a:lnTo>
                <a:lnTo>
                  <a:pt x="0" y="2864795"/>
                </a:lnTo>
                <a:lnTo>
                  <a:pt x="0" y="0"/>
                </a:lnTo>
                <a:close/>
              </a:path>
            </a:pathLst>
          </a:custGeom>
          <a:blipFill>
            <a:blip r:embed="rId3"/>
            <a:stretch>
              <a:fillRect l="0" t="0" r="0" b="0"/>
            </a:stretch>
          </a:blipFill>
        </p:spPr>
      </p:sp>
      <p:sp>
        <p:nvSpPr>
          <p:cNvPr name="Freeform 3" id="3"/>
          <p:cNvSpPr/>
          <p:nvPr/>
        </p:nvSpPr>
        <p:spPr>
          <a:xfrm flipH="false" flipV="false" rot="0">
            <a:off x="12795537" y="7058377"/>
            <a:ext cx="3937862" cy="2894328"/>
          </a:xfrm>
          <a:custGeom>
            <a:avLst/>
            <a:gdLst/>
            <a:ahLst/>
            <a:cxnLst/>
            <a:rect r="r" b="b" t="t" l="l"/>
            <a:pathLst>
              <a:path h="2894328" w="3937862">
                <a:moveTo>
                  <a:pt x="0" y="0"/>
                </a:moveTo>
                <a:lnTo>
                  <a:pt x="3937862" y="0"/>
                </a:lnTo>
                <a:lnTo>
                  <a:pt x="3937862" y="2894329"/>
                </a:lnTo>
                <a:lnTo>
                  <a:pt x="0" y="2894329"/>
                </a:lnTo>
                <a:lnTo>
                  <a:pt x="0" y="0"/>
                </a:lnTo>
                <a:close/>
              </a:path>
            </a:pathLst>
          </a:custGeom>
          <a:blipFill>
            <a:blip r:embed="rId4"/>
            <a:stretch>
              <a:fillRect l="0" t="0" r="0" b="0"/>
            </a:stretch>
          </a:blipFill>
        </p:spPr>
      </p:sp>
      <p:sp>
        <p:nvSpPr>
          <p:cNvPr name="Freeform 4" id="4"/>
          <p:cNvSpPr/>
          <p:nvPr/>
        </p:nvSpPr>
        <p:spPr>
          <a:xfrm flipH="false" flipV="false" rot="0">
            <a:off x="12795537" y="3819353"/>
            <a:ext cx="3828576" cy="2952789"/>
          </a:xfrm>
          <a:custGeom>
            <a:avLst/>
            <a:gdLst/>
            <a:ahLst/>
            <a:cxnLst/>
            <a:rect r="r" b="b" t="t" l="l"/>
            <a:pathLst>
              <a:path h="2952789" w="3828576">
                <a:moveTo>
                  <a:pt x="0" y="0"/>
                </a:moveTo>
                <a:lnTo>
                  <a:pt x="3828576" y="0"/>
                </a:lnTo>
                <a:lnTo>
                  <a:pt x="3828576" y="2952789"/>
                </a:lnTo>
                <a:lnTo>
                  <a:pt x="0" y="2952789"/>
                </a:lnTo>
                <a:lnTo>
                  <a:pt x="0" y="0"/>
                </a:lnTo>
                <a:close/>
              </a:path>
            </a:pathLst>
          </a:custGeom>
          <a:blipFill>
            <a:blip r:embed="rId5"/>
            <a:stretch>
              <a:fillRect l="0" t="0" r="0" b="0"/>
            </a:stretch>
          </a:blipFill>
        </p:spPr>
      </p:sp>
      <p:sp>
        <p:nvSpPr>
          <p:cNvPr name="Freeform 5" id="5"/>
          <p:cNvSpPr/>
          <p:nvPr/>
        </p:nvSpPr>
        <p:spPr>
          <a:xfrm flipH="false" flipV="false" rot="0">
            <a:off x="6495948" y="6772142"/>
            <a:ext cx="4635463" cy="2960902"/>
          </a:xfrm>
          <a:custGeom>
            <a:avLst/>
            <a:gdLst/>
            <a:ahLst/>
            <a:cxnLst/>
            <a:rect r="r" b="b" t="t" l="l"/>
            <a:pathLst>
              <a:path h="2960902" w="4635463">
                <a:moveTo>
                  <a:pt x="0" y="0"/>
                </a:moveTo>
                <a:lnTo>
                  <a:pt x="4635463" y="0"/>
                </a:lnTo>
                <a:lnTo>
                  <a:pt x="4635463" y="2960902"/>
                </a:lnTo>
                <a:lnTo>
                  <a:pt x="0" y="2960902"/>
                </a:lnTo>
                <a:lnTo>
                  <a:pt x="0" y="0"/>
                </a:lnTo>
                <a:close/>
              </a:path>
            </a:pathLst>
          </a:custGeom>
          <a:blipFill>
            <a:blip r:embed="rId6"/>
            <a:stretch>
              <a:fillRect l="0" t="0" r="0" b="0"/>
            </a:stretch>
          </a:blipFill>
        </p:spPr>
      </p:sp>
      <p:sp>
        <p:nvSpPr>
          <p:cNvPr name="TextBox 6" id="6"/>
          <p:cNvSpPr txBox="true"/>
          <p:nvPr/>
        </p:nvSpPr>
        <p:spPr>
          <a:xfrm rot="0">
            <a:off x="1028700" y="1034919"/>
            <a:ext cx="12048142" cy="721246"/>
          </a:xfrm>
          <a:prstGeom prst="rect">
            <a:avLst/>
          </a:prstGeom>
        </p:spPr>
        <p:txBody>
          <a:bodyPr anchor="t" rtlCol="false" tIns="0" lIns="0" bIns="0" rIns="0">
            <a:spAutoFit/>
          </a:bodyPr>
          <a:lstStyle/>
          <a:p>
            <a:pPr algn="l">
              <a:lnSpc>
                <a:spcPts val="5302"/>
              </a:lnSpc>
            </a:pPr>
            <a:r>
              <a:rPr lang="en-US" sz="4651" b="true">
                <a:solidFill>
                  <a:srgbClr val="1C2120"/>
                </a:solidFill>
                <a:latin typeface="Poppins Bold"/>
                <a:ea typeface="Poppins Bold"/>
                <a:cs typeface="Poppins Bold"/>
                <a:sym typeface="Poppins Bold"/>
              </a:rPr>
              <a:t>DQN Performance Comparison</a:t>
            </a:r>
          </a:p>
        </p:txBody>
      </p:sp>
      <p:sp>
        <p:nvSpPr>
          <p:cNvPr name="TextBox 7" id="7"/>
          <p:cNvSpPr txBox="true"/>
          <p:nvPr/>
        </p:nvSpPr>
        <p:spPr>
          <a:xfrm rot="0">
            <a:off x="1028700" y="1754504"/>
            <a:ext cx="9815883" cy="4808139"/>
          </a:xfrm>
          <a:prstGeom prst="rect">
            <a:avLst/>
          </a:prstGeom>
        </p:spPr>
        <p:txBody>
          <a:bodyPr anchor="t" rtlCol="false" tIns="0" lIns="0" bIns="0" rIns="0">
            <a:spAutoFit/>
          </a:bodyPr>
          <a:lstStyle/>
          <a:p>
            <a:pPr algn="l">
              <a:lnSpc>
                <a:spcPts val="3515"/>
              </a:lnSpc>
            </a:pPr>
            <a:r>
              <a:rPr lang="en-US" sz="2604" spc="156">
                <a:solidFill>
                  <a:srgbClr val="000000"/>
                </a:solidFill>
                <a:latin typeface="DM Sans"/>
                <a:ea typeface="DM Sans"/>
                <a:cs typeface="DM Sans"/>
                <a:sym typeface="DM Sans"/>
              </a:rPr>
              <a:t>As an extension of the introductory Lab, we applied our Machine Replacement Environment to a DQN</a:t>
            </a:r>
          </a:p>
          <a:p>
            <a:pPr algn="l" marL="562260" indent="-281130" lvl="1">
              <a:lnSpc>
                <a:spcPts val="3515"/>
              </a:lnSpc>
              <a:buFont typeface="Arial"/>
              <a:buChar char="•"/>
            </a:pPr>
            <a:r>
              <a:rPr lang="en-US" sz="2604" spc="156">
                <a:solidFill>
                  <a:srgbClr val="000000"/>
                </a:solidFill>
                <a:latin typeface="DM Sans"/>
                <a:ea typeface="DM Sans"/>
                <a:cs typeface="DM Sans"/>
                <a:sym typeface="DM Sans"/>
              </a:rPr>
              <a:t>Varied various parameters to obtain trajectory returns closer to 0 (where only negative values possible)</a:t>
            </a:r>
          </a:p>
          <a:p>
            <a:pPr algn="l" marL="562260" indent="-281130" lvl="1">
              <a:lnSpc>
                <a:spcPts val="3515"/>
              </a:lnSpc>
              <a:buFont typeface="Arial"/>
              <a:buChar char="•"/>
            </a:pPr>
            <a:r>
              <a:rPr lang="en-US" sz="2604" spc="156">
                <a:solidFill>
                  <a:srgbClr val="000000"/>
                </a:solidFill>
                <a:latin typeface="DM Sans"/>
                <a:ea typeface="DM Sans"/>
                <a:cs typeface="DM Sans"/>
                <a:sym typeface="DM Sans"/>
              </a:rPr>
              <a:t>Ideal : Implement more complex/higher dimension state space (finite action space suitable for DQN)</a:t>
            </a:r>
          </a:p>
          <a:p>
            <a:pPr algn="l" marL="562260" indent="-281130" lvl="1">
              <a:lnSpc>
                <a:spcPts val="3515"/>
              </a:lnSpc>
              <a:buFont typeface="Arial"/>
              <a:buChar char="•"/>
            </a:pPr>
            <a:r>
              <a:rPr lang="en-US" sz="2604" spc="156">
                <a:solidFill>
                  <a:srgbClr val="000000"/>
                </a:solidFill>
                <a:latin typeface="DM Sans"/>
                <a:ea typeface="DM Sans"/>
                <a:cs typeface="DM Sans"/>
                <a:sym typeface="DM Sans"/>
              </a:rPr>
              <a:t>Explore : DDPG with more complex action space with (learn Q-function and Policy)</a:t>
            </a:r>
          </a:p>
          <a:p>
            <a:pPr algn="l">
              <a:lnSpc>
                <a:spcPts val="3515"/>
              </a:lnSpc>
            </a:pPr>
            <a:r>
              <a:rPr lang="en-US" sz="2604" spc="156">
                <a:solidFill>
                  <a:srgbClr val="000000"/>
                </a:solidFill>
                <a:latin typeface="DM Sans"/>
                <a:ea typeface="DM Sans"/>
                <a:cs typeface="DM Sans"/>
                <a:sym typeface="DM Sans"/>
              </a:rPr>
              <a:t>*Error: DQN starts at much lower value when compared to the gym environment with no DQN applied</a:t>
            </a:r>
          </a:p>
        </p:txBody>
      </p:sp>
      <p:sp>
        <p:nvSpPr>
          <p:cNvPr name="TextBox 8" id="8"/>
          <p:cNvSpPr txBox="true"/>
          <p:nvPr/>
        </p:nvSpPr>
        <p:spPr>
          <a:xfrm rot="0">
            <a:off x="11757403" y="518971"/>
            <a:ext cx="2076267" cy="308229"/>
          </a:xfrm>
          <a:prstGeom prst="rect">
            <a:avLst/>
          </a:prstGeom>
        </p:spPr>
        <p:txBody>
          <a:bodyPr anchor="t" rtlCol="false" tIns="0" lIns="0" bIns="0" rIns="0">
            <a:spAutoFit/>
          </a:bodyPr>
          <a:lstStyle/>
          <a:p>
            <a:pPr algn="ctr">
              <a:lnSpc>
                <a:spcPts val="2268"/>
              </a:lnSpc>
            </a:pPr>
            <a:r>
              <a:rPr lang="en-US" b="true" sz="2100">
                <a:solidFill>
                  <a:srgbClr val="1C2120"/>
                </a:solidFill>
                <a:latin typeface="Poppins Bold"/>
                <a:ea typeface="Poppins Bold"/>
                <a:cs typeface="Poppins Bold"/>
                <a:sym typeface="Poppins Bold"/>
              </a:rPr>
              <a:t>Baseline</a:t>
            </a:r>
          </a:p>
        </p:txBody>
      </p:sp>
      <p:sp>
        <p:nvSpPr>
          <p:cNvPr name="TextBox 9" id="9"/>
          <p:cNvSpPr txBox="true"/>
          <p:nvPr/>
        </p:nvSpPr>
        <p:spPr>
          <a:xfrm rot="0">
            <a:off x="11757403" y="3650319"/>
            <a:ext cx="2076267" cy="308229"/>
          </a:xfrm>
          <a:prstGeom prst="rect">
            <a:avLst/>
          </a:prstGeom>
        </p:spPr>
        <p:txBody>
          <a:bodyPr anchor="t" rtlCol="false" tIns="0" lIns="0" bIns="0" rIns="0">
            <a:spAutoFit/>
          </a:bodyPr>
          <a:lstStyle/>
          <a:p>
            <a:pPr algn="ctr">
              <a:lnSpc>
                <a:spcPts val="2268"/>
              </a:lnSpc>
            </a:pPr>
            <a:r>
              <a:rPr lang="en-US" b="true" sz="2100">
                <a:solidFill>
                  <a:srgbClr val="1C2120"/>
                </a:solidFill>
                <a:latin typeface="Poppins Bold"/>
                <a:ea typeface="Poppins Bold"/>
                <a:cs typeface="Poppins Bold"/>
                <a:sym typeface="Poppins Bold"/>
              </a:rPr>
              <a:t>Dropout</a:t>
            </a:r>
          </a:p>
        </p:txBody>
      </p:sp>
      <p:sp>
        <p:nvSpPr>
          <p:cNvPr name="TextBox 10" id="10"/>
          <p:cNvSpPr txBox="true"/>
          <p:nvPr/>
        </p:nvSpPr>
        <p:spPr>
          <a:xfrm rot="0">
            <a:off x="11757403" y="6886442"/>
            <a:ext cx="2259708" cy="593979"/>
          </a:xfrm>
          <a:prstGeom prst="rect">
            <a:avLst/>
          </a:prstGeom>
        </p:spPr>
        <p:txBody>
          <a:bodyPr anchor="t" rtlCol="false" tIns="0" lIns="0" bIns="0" rIns="0">
            <a:spAutoFit/>
          </a:bodyPr>
          <a:lstStyle/>
          <a:p>
            <a:pPr algn="ctr">
              <a:lnSpc>
                <a:spcPts val="2268"/>
              </a:lnSpc>
            </a:pPr>
            <a:r>
              <a:rPr lang="en-US" b="true" sz="2100">
                <a:solidFill>
                  <a:srgbClr val="1C2120"/>
                </a:solidFill>
                <a:latin typeface="Poppins Bold"/>
                <a:ea typeface="Poppins Bold"/>
                <a:cs typeface="Poppins Bold"/>
                <a:sym typeface="Poppins Bold"/>
              </a:rPr>
              <a:t>&gt; Convolutional Layers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101622" y="-767350"/>
            <a:ext cx="22013892" cy="12354774"/>
          </a:xfrm>
          <a:custGeom>
            <a:avLst/>
            <a:gdLst/>
            <a:ahLst/>
            <a:cxnLst/>
            <a:rect r="r" b="b" t="t" l="l"/>
            <a:pathLst>
              <a:path h="12354774" w="22013892">
                <a:moveTo>
                  <a:pt x="0" y="0"/>
                </a:moveTo>
                <a:lnTo>
                  <a:pt x="22013891" y="0"/>
                </a:lnTo>
                <a:lnTo>
                  <a:pt x="22013891" y="12354775"/>
                </a:lnTo>
                <a:lnTo>
                  <a:pt x="0" y="12354775"/>
                </a:lnTo>
                <a:lnTo>
                  <a:pt x="0" y="0"/>
                </a:lnTo>
                <a:close/>
              </a:path>
            </a:pathLst>
          </a:custGeom>
          <a:blipFill>
            <a:blip r:embed="rId2"/>
            <a:stretch>
              <a:fillRect l="0" t="-9467" r="0" b="-9467"/>
            </a:stretch>
          </a:blipFill>
        </p:spPr>
      </p:sp>
      <p:grpSp>
        <p:nvGrpSpPr>
          <p:cNvPr name="Group 3" id="3"/>
          <p:cNvGrpSpPr/>
          <p:nvPr/>
        </p:nvGrpSpPr>
        <p:grpSpPr>
          <a:xfrm rot="0">
            <a:off x="-1793400" y="-712357"/>
            <a:ext cx="22453902" cy="11711713"/>
            <a:chOff x="0" y="0"/>
            <a:chExt cx="5913785" cy="3084566"/>
          </a:xfrm>
        </p:grpSpPr>
        <p:sp>
          <p:nvSpPr>
            <p:cNvPr name="Freeform 4" id="4"/>
            <p:cNvSpPr/>
            <p:nvPr/>
          </p:nvSpPr>
          <p:spPr>
            <a:xfrm flipH="false" flipV="false" rot="0">
              <a:off x="0" y="0"/>
              <a:ext cx="5913785" cy="3084567"/>
            </a:xfrm>
            <a:custGeom>
              <a:avLst/>
              <a:gdLst/>
              <a:ahLst/>
              <a:cxnLst/>
              <a:rect r="r" b="b" t="t" l="l"/>
              <a:pathLst>
                <a:path h="3084567" w="5913785">
                  <a:moveTo>
                    <a:pt x="0" y="0"/>
                  </a:moveTo>
                  <a:lnTo>
                    <a:pt x="5913785" y="0"/>
                  </a:lnTo>
                  <a:lnTo>
                    <a:pt x="5913785" y="3084567"/>
                  </a:lnTo>
                  <a:lnTo>
                    <a:pt x="0" y="3084567"/>
                  </a:lnTo>
                  <a:close/>
                </a:path>
              </a:pathLst>
            </a:custGeom>
            <a:solidFill>
              <a:srgbClr val="AAD7D4">
                <a:alpha val="28627"/>
              </a:srgbClr>
            </a:solidFill>
          </p:spPr>
        </p:sp>
        <p:sp>
          <p:nvSpPr>
            <p:cNvPr name="TextBox 5" id="5"/>
            <p:cNvSpPr txBox="true"/>
            <p:nvPr/>
          </p:nvSpPr>
          <p:spPr>
            <a:xfrm>
              <a:off x="0" y="-38100"/>
              <a:ext cx="5913785" cy="3122666"/>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970323" y="2516012"/>
            <a:ext cx="13870002" cy="2336433"/>
          </a:xfrm>
          <a:prstGeom prst="rect">
            <a:avLst/>
          </a:prstGeom>
        </p:spPr>
        <p:txBody>
          <a:bodyPr anchor="t" rtlCol="false" tIns="0" lIns="0" bIns="0" rIns="0">
            <a:spAutoFit/>
          </a:bodyPr>
          <a:lstStyle/>
          <a:p>
            <a:pPr algn="ctr">
              <a:lnSpc>
                <a:spcPts val="3852"/>
              </a:lnSpc>
            </a:pPr>
          </a:p>
          <a:p>
            <a:pPr algn="ctr">
              <a:lnSpc>
                <a:spcPts val="3852"/>
              </a:lnSpc>
            </a:pPr>
          </a:p>
          <a:p>
            <a:pPr algn="ctr">
              <a:lnSpc>
                <a:spcPts val="3852"/>
              </a:lnSpc>
            </a:pPr>
            <a:r>
              <a:rPr lang="en-US" b="true" sz="4586" spc="-247">
                <a:solidFill>
                  <a:srgbClr val="1C2120"/>
                </a:solidFill>
                <a:latin typeface="Canva Sans Bold"/>
                <a:ea typeface="Canva Sans Bold"/>
                <a:cs typeface="Canva Sans Bold"/>
                <a:sym typeface="Canva Sans Bold"/>
              </a:rPr>
              <a:t> </a:t>
            </a:r>
            <a:r>
              <a:rPr lang="en-US" b="true" sz="4586" spc="-247">
                <a:solidFill>
                  <a:srgbClr val="1C2120"/>
                </a:solidFill>
                <a:latin typeface="Canva Sans Bold"/>
                <a:ea typeface="Canva Sans Bold"/>
                <a:cs typeface="Canva Sans Bold"/>
                <a:sym typeface="Canva Sans Bold"/>
              </a:rPr>
              <a:t>DEEP REINFORCEMENT LEARNING FOR ATARI BREAKOUT USING DQN</a:t>
            </a:r>
          </a:p>
          <a:p>
            <a:pPr algn="ctr">
              <a:lnSpc>
                <a:spcPts val="2985"/>
              </a:lnSpc>
            </a:pPr>
          </a:p>
        </p:txBody>
      </p:sp>
      <p:sp>
        <p:nvSpPr>
          <p:cNvPr name="TextBox 7" id="7"/>
          <p:cNvSpPr txBox="true"/>
          <p:nvPr/>
        </p:nvSpPr>
        <p:spPr>
          <a:xfrm rot="0">
            <a:off x="3618388" y="4634537"/>
            <a:ext cx="11051224" cy="1693876"/>
          </a:xfrm>
          <a:prstGeom prst="rect">
            <a:avLst/>
          </a:prstGeom>
        </p:spPr>
        <p:txBody>
          <a:bodyPr anchor="t" rtlCol="false" tIns="0" lIns="0" bIns="0" rIns="0">
            <a:spAutoFit/>
          </a:bodyPr>
          <a:lstStyle/>
          <a:p>
            <a:pPr algn="ctr">
              <a:lnSpc>
                <a:spcPts val="3713"/>
              </a:lnSpc>
            </a:pPr>
          </a:p>
          <a:p>
            <a:pPr algn="ctr">
              <a:lnSpc>
                <a:spcPts val="3713"/>
              </a:lnSpc>
            </a:pPr>
          </a:p>
          <a:p>
            <a:pPr algn="ctr">
              <a:lnSpc>
                <a:spcPts val="2878"/>
              </a:lnSpc>
            </a:pPr>
            <a:r>
              <a:rPr lang="en-US" b="true" sz="3426" spc="-185">
                <a:solidFill>
                  <a:srgbClr val="1C2120"/>
                </a:solidFill>
                <a:latin typeface="Canva Sans Bold"/>
                <a:ea typeface="Canva Sans Bold"/>
                <a:cs typeface="Canva Sans Bold"/>
                <a:sym typeface="Canva Sans Bold"/>
              </a:rPr>
              <a:t>A PROJECT EXPLORING PRETRAINED AGENT EVALUATION AND RL WORKFLOWS</a:t>
            </a: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343841" y="942975"/>
            <a:ext cx="8817384" cy="778511"/>
          </a:xfrm>
          <a:prstGeom prst="rect">
            <a:avLst/>
          </a:prstGeom>
        </p:spPr>
        <p:txBody>
          <a:bodyPr anchor="t" rtlCol="false" tIns="0" lIns="0" bIns="0" rIns="0">
            <a:spAutoFit/>
          </a:bodyPr>
          <a:lstStyle/>
          <a:p>
            <a:pPr algn="l">
              <a:lnSpc>
                <a:spcPts val="6439"/>
              </a:lnSpc>
              <a:spcBef>
                <a:spcPct val="0"/>
              </a:spcBef>
            </a:pPr>
            <a:r>
              <a:rPr lang="en-US" b="true" sz="4599" spc="-377">
                <a:solidFill>
                  <a:srgbClr val="000000"/>
                </a:solidFill>
                <a:latin typeface="Comic Sans Bold"/>
                <a:ea typeface="Comic Sans Bold"/>
                <a:cs typeface="Comic Sans Bold"/>
                <a:sym typeface="Comic Sans Bold"/>
              </a:rPr>
              <a:t>Motivation and Problem Statement</a:t>
            </a:r>
          </a:p>
        </p:txBody>
      </p:sp>
      <p:sp>
        <p:nvSpPr>
          <p:cNvPr name="TextBox 3" id="3"/>
          <p:cNvSpPr txBox="true"/>
          <p:nvPr/>
        </p:nvSpPr>
        <p:spPr>
          <a:xfrm rot="0">
            <a:off x="1343841" y="2292635"/>
            <a:ext cx="14322924" cy="8636000"/>
          </a:xfrm>
          <a:prstGeom prst="rect">
            <a:avLst/>
          </a:prstGeom>
        </p:spPr>
        <p:txBody>
          <a:bodyPr anchor="t" rtlCol="false" tIns="0" lIns="0" bIns="0" rIns="0">
            <a:spAutoFit/>
          </a:bodyPr>
          <a:lstStyle/>
          <a:p>
            <a:pPr algn="l">
              <a:lnSpc>
                <a:spcPts val="4899"/>
              </a:lnSpc>
            </a:pPr>
            <a:r>
              <a:rPr lang="en-US" b="true" sz="3499" spc="-286" u="sng">
                <a:solidFill>
                  <a:srgbClr val="000000"/>
                </a:solidFill>
                <a:latin typeface="Open Sans Bold"/>
                <a:ea typeface="Open Sans Bold"/>
                <a:cs typeface="Open Sans Bold"/>
                <a:sym typeface="Open Sans Bold"/>
              </a:rPr>
              <a:t>Project Goal</a:t>
            </a:r>
          </a:p>
          <a:p>
            <a:pPr algn="l">
              <a:lnSpc>
                <a:spcPts val="4899"/>
              </a:lnSpc>
            </a:pPr>
            <a:r>
              <a:rPr lang="en-US" sz="3499" spc="-286">
                <a:solidFill>
                  <a:srgbClr val="000000"/>
                </a:solidFill>
                <a:latin typeface="Open Sans"/>
                <a:ea typeface="Open Sans"/>
                <a:cs typeface="Open Sans"/>
                <a:sym typeface="Open Sans"/>
              </a:rPr>
              <a:t>Evaluate a Deep Q-Network (DQN) agent's ability to play Atari Breakout using</a:t>
            </a:r>
          </a:p>
          <a:p>
            <a:pPr algn="l" marL="755647" indent="-377824" lvl="1">
              <a:lnSpc>
                <a:spcPts val="4899"/>
              </a:lnSpc>
              <a:buFont typeface="Arial"/>
              <a:buChar char="•"/>
            </a:pPr>
            <a:r>
              <a:rPr lang="en-US" sz="3499" spc="-286">
                <a:solidFill>
                  <a:srgbClr val="000000"/>
                </a:solidFill>
                <a:latin typeface="Open Sans"/>
                <a:ea typeface="Open Sans"/>
                <a:cs typeface="Open Sans"/>
                <a:sym typeface="Open Sans"/>
              </a:rPr>
              <a:t>Pretrained models from Hugging Face</a:t>
            </a:r>
          </a:p>
          <a:p>
            <a:pPr algn="l" marL="755647" indent="-377824" lvl="1">
              <a:lnSpc>
                <a:spcPts val="4899"/>
              </a:lnSpc>
              <a:buFont typeface="Arial"/>
              <a:buChar char="•"/>
            </a:pPr>
            <a:r>
              <a:rPr lang="en-US" sz="3499" spc="-286">
                <a:solidFill>
                  <a:srgbClr val="000000"/>
                </a:solidFill>
                <a:latin typeface="Open Sans"/>
                <a:ea typeface="Open Sans"/>
                <a:cs typeface="Open Sans"/>
                <a:sym typeface="Open Sans"/>
              </a:rPr>
              <a:t>Stable-Baselines3 for standard DQN implementation</a:t>
            </a:r>
          </a:p>
          <a:p>
            <a:pPr algn="l">
              <a:lnSpc>
                <a:spcPts val="4899"/>
              </a:lnSpc>
            </a:pPr>
          </a:p>
          <a:p>
            <a:pPr algn="l">
              <a:lnSpc>
                <a:spcPts val="4899"/>
              </a:lnSpc>
            </a:pPr>
            <a:r>
              <a:rPr lang="en-US" sz="3499" spc="-286">
                <a:solidFill>
                  <a:srgbClr val="000000"/>
                </a:solidFill>
                <a:latin typeface="Open Sans"/>
                <a:ea typeface="Open Sans"/>
                <a:cs typeface="Open Sans"/>
                <a:sym typeface="Open Sans"/>
              </a:rPr>
              <a:t>Why Breakout?</a:t>
            </a:r>
          </a:p>
          <a:p>
            <a:pPr algn="l" marL="755647" indent="-377824" lvl="1">
              <a:lnSpc>
                <a:spcPts val="4899"/>
              </a:lnSpc>
              <a:spcBef>
                <a:spcPct val="0"/>
              </a:spcBef>
              <a:buFont typeface="Arial"/>
              <a:buChar char="•"/>
            </a:pPr>
            <a:r>
              <a:rPr lang="en-US" sz="3499" spc="-286">
                <a:solidFill>
                  <a:srgbClr val="000000"/>
                </a:solidFill>
                <a:latin typeface="Open Sans"/>
                <a:ea typeface="Open Sans"/>
                <a:cs typeface="Open Sans"/>
                <a:sym typeface="Open Sans"/>
              </a:rPr>
              <a:t>Classic benchmark i</a:t>
            </a:r>
            <a:r>
              <a:rPr lang="en-US" sz="3499" spc="-286">
                <a:solidFill>
                  <a:srgbClr val="000000"/>
                </a:solidFill>
                <a:latin typeface="Open Sans"/>
                <a:ea typeface="Open Sans"/>
                <a:cs typeface="Open Sans"/>
                <a:sym typeface="Open Sans"/>
              </a:rPr>
              <a:t>n RL research (DeepMind's 2015 paper)</a:t>
            </a:r>
          </a:p>
          <a:p>
            <a:pPr algn="l" marL="755647" indent="-377824" lvl="1">
              <a:lnSpc>
                <a:spcPts val="4899"/>
              </a:lnSpc>
              <a:spcBef>
                <a:spcPct val="0"/>
              </a:spcBef>
              <a:buFont typeface="Arial"/>
              <a:buChar char="•"/>
            </a:pPr>
            <a:r>
              <a:rPr lang="en-US" sz="3499" spc="-286">
                <a:solidFill>
                  <a:srgbClr val="000000"/>
                </a:solidFill>
                <a:latin typeface="Open Sans"/>
                <a:ea typeface="Open Sans"/>
                <a:cs typeface="Open Sans"/>
                <a:sym typeface="Open Sans"/>
              </a:rPr>
              <a:t>Visually intuitive and easy to demonstrate</a:t>
            </a:r>
          </a:p>
          <a:p>
            <a:pPr algn="l" marL="755647" indent="-377824" lvl="1">
              <a:lnSpc>
                <a:spcPts val="4899"/>
              </a:lnSpc>
              <a:spcBef>
                <a:spcPct val="0"/>
              </a:spcBef>
              <a:buFont typeface="Arial"/>
              <a:buChar char="•"/>
            </a:pPr>
            <a:r>
              <a:rPr lang="en-US" sz="3499" spc="-286">
                <a:solidFill>
                  <a:srgbClr val="000000"/>
                </a:solidFill>
                <a:latin typeface="Open Sans"/>
                <a:ea typeface="Open Sans"/>
                <a:cs typeface="Open Sans"/>
                <a:sym typeface="Open Sans"/>
              </a:rPr>
              <a:t>Pre-integrated into popular RL libraries like gym, making it accessible for reproducible experiments</a:t>
            </a:r>
          </a:p>
          <a:p>
            <a:pPr algn="l">
              <a:lnSpc>
                <a:spcPts val="4899"/>
              </a:lnSpc>
              <a:spcBef>
                <a:spcPct val="0"/>
              </a:spcBef>
            </a:pPr>
          </a:p>
          <a:p>
            <a:pPr algn="l">
              <a:lnSpc>
                <a:spcPts val="4899"/>
              </a:lnSpc>
              <a:spcBef>
                <a:spcPct val="0"/>
              </a:spcBef>
            </a:pPr>
          </a:p>
          <a:p>
            <a:pPr algn="l">
              <a:lnSpc>
                <a:spcPts val="4899"/>
              </a:lnSpc>
              <a:spcBef>
                <a:spcPct val="0"/>
              </a:spcBef>
            </a:pPr>
          </a:p>
          <a:p>
            <a:pPr algn="l">
              <a:lnSpc>
                <a:spcPts val="4899"/>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308493" y="1775846"/>
            <a:ext cx="9144000" cy="778511"/>
          </a:xfrm>
          <a:prstGeom prst="rect">
            <a:avLst/>
          </a:prstGeom>
        </p:spPr>
        <p:txBody>
          <a:bodyPr anchor="t" rtlCol="false" tIns="0" lIns="0" bIns="0" rIns="0">
            <a:spAutoFit/>
          </a:bodyPr>
          <a:lstStyle/>
          <a:p>
            <a:pPr algn="l">
              <a:lnSpc>
                <a:spcPts val="6439"/>
              </a:lnSpc>
              <a:spcBef>
                <a:spcPct val="0"/>
              </a:spcBef>
            </a:pPr>
            <a:r>
              <a:rPr lang="en-US" b="true" sz="4599" spc="-377">
                <a:solidFill>
                  <a:srgbClr val="000000"/>
                </a:solidFill>
                <a:latin typeface="Comic Sans Bold"/>
                <a:ea typeface="Comic Sans Bold"/>
                <a:cs typeface="Comic Sans Bold"/>
                <a:sym typeface="Comic Sans Bold"/>
              </a:rPr>
              <a:t>Tools and Libraries</a:t>
            </a:r>
          </a:p>
        </p:txBody>
      </p:sp>
      <p:sp>
        <p:nvSpPr>
          <p:cNvPr name="TextBox 3" id="3"/>
          <p:cNvSpPr txBox="true"/>
          <p:nvPr/>
        </p:nvSpPr>
        <p:spPr>
          <a:xfrm rot="0">
            <a:off x="1009650" y="3615953"/>
            <a:ext cx="13872723" cy="4921250"/>
          </a:xfrm>
          <a:prstGeom prst="rect">
            <a:avLst/>
          </a:prstGeom>
        </p:spPr>
        <p:txBody>
          <a:bodyPr anchor="t" rtlCol="false" tIns="0" lIns="0" bIns="0" rIns="0">
            <a:spAutoFit/>
          </a:bodyPr>
          <a:lstStyle/>
          <a:p>
            <a:pPr algn="l" marL="755647" indent="-377824" lvl="1">
              <a:lnSpc>
                <a:spcPts val="4899"/>
              </a:lnSpc>
              <a:spcBef>
                <a:spcPct val="0"/>
              </a:spcBef>
              <a:buFont typeface="Arial"/>
              <a:buChar char="•"/>
            </a:pPr>
            <a:r>
              <a:rPr lang="en-US" b="true" sz="3499" spc="-286">
                <a:solidFill>
                  <a:srgbClr val="000000"/>
                </a:solidFill>
                <a:latin typeface="Comic Sans Bold"/>
                <a:ea typeface="Comic Sans Bold"/>
                <a:cs typeface="Comic Sans Bold"/>
                <a:sym typeface="Comic Sans Bold"/>
              </a:rPr>
              <a:t>gym</a:t>
            </a:r>
            <a:r>
              <a:rPr lang="en-US" sz="3499" spc="-286">
                <a:solidFill>
                  <a:srgbClr val="000000"/>
                </a:solidFill>
                <a:latin typeface="Comic Sans"/>
                <a:ea typeface="Comic Sans"/>
                <a:cs typeface="Comic Sans"/>
                <a:sym typeface="Comic Sans"/>
              </a:rPr>
              <a:t>: provides atari breakout environment </a:t>
            </a:r>
          </a:p>
          <a:p>
            <a:pPr algn="l" marL="755647" indent="-377824" lvl="1">
              <a:lnSpc>
                <a:spcPts val="4899"/>
              </a:lnSpc>
              <a:spcBef>
                <a:spcPct val="0"/>
              </a:spcBef>
              <a:buFont typeface="Arial"/>
              <a:buChar char="•"/>
            </a:pPr>
            <a:r>
              <a:rPr lang="en-US" b="true" sz="3499" spc="-286">
                <a:solidFill>
                  <a:srgbClr val="000000"/>
                </a:solidFill>
                <a:latin typeface="Comic Sans Bold"/>
                <a:ea typeface="Comic Sans Bold"/>
                <a:cs typeface="Comic Sans Bold"/>
                <a:sym typeface="Comic Sans Bold"/>
              </a:rPr>
              <a:t>stable-baselines3:</a:t>
            </a:r>
            <a:r>
              <a:rPr lang="en-US" sz="3499" spc="-286">
                <a:solidFill>
                  <a:srgbClr val="000000"/>
                </a:solidFill>
                <a:latin typeface="Comic Sans"/>
                <a:ea typeface="Comic Sans"/>
                <a:cs typeface="Comic Sans"/>
                <a:sym typeface="Comic Sans"/>
              </a:rPr>
              <a:t> implements DQN agent using  CnnPolicy</a:t>
            </a:r>
          </a:p>
          <a:p>
            <a:pPr algn="l" marL="755647" indent="-377824" lvl="1">
              <a:lnSpc>
                <a:spcPts val="4899"/>
              </a:lnSpc>
              <a:spcBef>
                <a:spcPct val="0"/>
              </a:spcBef>
              <a:buFont typeface="Arial"/>
              <a:buChar char="•"/>
            </a:pPr>
            <a:r>
              <a:rPr lang="en-US" b="true" sz="3499" spc="-286">
                <a:solidFill>
                  <a:srgbClr val="000000"/>
                </a:solidFill>
                <a:latin typeface="Comic Sans Bold"/>
                <a:ea typeface="Comic Sans Bold"/>
                <a:cs typeface="Comic Sans Bold"/>
                <a:sym typeface="Comic Sans Bold"/>
              </a:rPr>
              <a:t>wrap_deepmind:</a:t>
            </a:r>
            <a:r>
              <a:rPr lang="en-US" sz="3499" spc="-286">
                <a:solidFill>
                  <a:srgbClr val="000000"/>
                </a:solidFill>
                <a:latin typeface="Comic Sans"/>
                <a:ea typeface="Comic Sans"/>
                <a:cs typeface="Comic Sans"/>
                <a:sym typeface="Comic Sans"/>
              </a:rPr>
              <a:t> Applies standard preprocessing (grayscale, resize, frame stack)</a:t>
            </a:r>
          </a:p>
          <a:p>
            <a:pPr algn="l" marL="755647" indent="-377824" lvl="1">
              <a:lnSpc>
                <a:spcPts val="4899"/>
              </a:lnSpc>
              <a:spcBef>
                <a:spcPct val="0"/>
              </a:spcBef>
              <a:buFont typeface="Arial"/>
              <a:buChar char="•"/>
            </a:pPr>
            <a:r>
              <a:rPr lang="en-US" b="true" sz="3499" spc="-286">
                <a:solidFill>
                  <a:srgbClr val="000000"/>
                </a:solidFill>
                <a:latin typeface="Comic Sans Bold"/>
                <a:ea typeface="Comic Sans Bold"/>
                <a:cs typeface="Comic Sans Bold"/>
                <a:sym typeface="Comic Sans Bold"/>
              </a:rPr>
              <a:t>huggingface_sb3:</a:t>
            </a:r>
            <a:r>
              <a:rPr lang="en-US" sz="3499" spc="-286">
                <a:solidFill>
                  <a:srgbClr val="000000"/>
                </a:solidFill>
                <a:latin typeface="Comic Sans"/>
                <a:ea typeface="Comic Sans"/>
                <a:cs typeface="Comic Sans"/>
                <a:sym typeface="Comic Sans"/>
              </a:rPr>
              <a:t> Load pretrained DQN agents</a:t>
            </a:r>
          </a:p>
          <a:p>
            <a:pPr algn="l" marL="755647" indent="-377824" lvl="1">
              <a:lnSpc>
                <a:spcPts val="4899"/>
              </a:lnSpc>
              <a:spcBef>
                <a:spcPct val="0"/>
              </a:spcBef>
              <a:buFont typeface="Arial"/>
              <a:buChar char="•"/>
            </a:pPr>
            <a:r>
              <a:rPr lang="en-US" b="true" sz="3499" spc="-286">
                <a:solidFill>
                  <a:srgbClr val="000000"/>
                </a:solidFill>
                <a:latin typeface="Comic Sans Bold"/>
                <a:ea typeface="Comic Sans Bold"/>
                <a:cs typeface="Comic Sans Bold"/>
                <a:sym typeface="Comic Sans Bold"/>
              </a:rPr>
              <a:t>VecVideoRecorder: </a:t>
            </a:r>
            <a:r>
              <a:rPr lang="en-US" sz="3499" spc="-286">
                <a:solidFill>
                  <a:srgbClr val="000000"/>
                </a:solidFill>
                <a:latin typeface="Comic Sans"/>
                <a:ea typeface="Comic Sans"/>
                <a:cs typeface="Comic Sans"/>
                <a:sym typeface="Comic Sans"/>
              </a:rPr>
              <a:t>Records agent gameplay as video</a:t>
            </a:r>
          </a:p>
          <a:p>
            <a:pPr algn="l" marL="755647" indent="-377824" lvl="1">
              <a:lnSpc>
                <a:spcPts val="4899"/>
              </a:lnSpc>
              <a:spcBef>
                <a:spcPct val="0"/>
              </a:spcBef>
              <a:buFont typeface="Arial"/>
              <a:buChar char="•"/>
            </a:pPr>
            <a:r>
              <a:rPr lang="en-US" b="true" sz="3499" spc="-286">
                <a:solidFill>
                  <a:srgbClr val="000000"/>
                </a:solidFill>
                <a:latin typeface="Comic Sans Bold"/>
                <a:ea typeface="Comic Sans Bold"/>
                <a:cs typeface="Comic Sans Bold"/>
                <a:sym typeface="Comic Sans Bold"/>
              </a:rPr>
              <a:t>Mat</a:t>
            </a:r>
            <a:r>
              <a:rPr lang="en-US" b="true" sz="3499" spc="-286">
                <a:solidFill>
                  <a:srgbClr val="000000"/>
                </a:solidFill>
                <a:latin typeface="Comic Sans Bold"/>
                <a:ea typeface="Comic Sans Bold"/>
                <a:cs typeface="Comic Sans Bold"/>
                <a:sym typeface="Comic Sans Bold"/>
              </a:rPr>
              <a:t>plotlib, Ope</a:t>
            </a:r>
            <a:r>
              <a:rPr lang="en-US" b="true" sz="3499" spc="-286">
                <a:solidFill>
                  <a:srgbClr val="000000"/>
                </a:solidFill>
                <a:latin typeface="Comic Sans Bold"/>
                <a:ea typeface="Comic Sans Bold"/>
                <a:cs typeface="Comic Sans Bold"/>
                <a:sym typeface="Comic Sans Bold"/>
              </a:rPr>
              <a:t>nCV:</a:t>
            </a:r>
            <a:r>
              <a:rPr lang="en-US" sz="3499" spc="-286">
                <a:solidFill>
                  <a:srgbClr val="000000"/>
                </a:solidFill>
                <a:latin typeface="Comic Sans"/>
                <a:ea typeface="Comic Sans"/>
                <a:cs typeface="Comic Sans"/>
                <a:sym typeface="Comic Sans"/>
              </a:rPr>
              <a:t> For plots and visualizations</a:t>
            </a:r>
          </a:p>
          <a:p>
            <a:pPr algn="l">
              <a:lnSpc>
                <a:spcPts val="4899"/>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308493" y="1775846"/>
            <a:ext cx="9144000" cy="778511"/>
          </a:xfrm>
          <a:prstGeom prst="rect">
            <a:avLst/>
          </a:prstGeom>
        </p:spPr>
        <p:txBody>
          <a:bodyPr anchor="t" rtlCol="false" tIns="0" lIns="0" bIns="0" rIns="0">
            <a:spAutoFit/>
          </a:bodyPr>
          <a:lstStyle/>
          <a:p>
            <a:pPr algn="l">
              <a:lnSpc>
                <a:spcPts val="6439"/>
              </a:lnSpc>
              <a:spcBef>
                <a:spcPct val="0"/>
              </a:spcBef>
            </a:pPr>
            <a:r>
              <a:rPr lang="en-US" b="true" sz="4599" spc="-377">
                <a:solidFill>
                  <a:srgbClr val="000000"/>
                </a:solidFill>
                <a:latin typeface="Comic Sans Bold"/>
                <a:ea typeface="Comic Sans Bold"/>
                <a:cs typeface="Comic Sans Bold"/>
                <a:sym typeface="Comic Sans Bold"/>
              </a:rPr>
              <a:t>DQN Algorithm Overview</a:t>
            </a:r>
          </a:p>
        </p:txBody>
      </p:sp>
      <p:sp>
        <p:nvSpPr>
          <p:cNvPr name="TextBox 3" id="3"/>
          <p:cNvSpPr txBox="true"/>
          <p:nvPr/>
        </p:nvSpPr>
        <p:spPr>
          <a:xfrm rot="0">
            <a:off x="1308493" y="3615953"/>
            <a:ext cx="13872723" cy="4302125"/>
          </a:xfrm>
          <a:prstGeom prst="rect">
            <a:avLst/>
          </a:prstGeom>
        </p:spPr>
        <p:txBody>
          <a:bodyPr anchor="t" rtlCol="false" tIns="0" lIns="0" bIns="0" rIns="0">
            <a:spAutoFit/>
          </a:bodyPr>
          <a:lstStyle/>
          <a:p>
            <a:pPr algn="l">
              <a:lnSpc>
                <a:spcPts val="4899"/>
              </a:lnSpc>
              <a:spcBef>
                <a:spcPct val="0"/>
              </a:spcBef>
            </a:pPr>
            <a:r>
              <a:rPr lang="en-US" sz="3499" spc="-286">
                <a:solidFill>
                  <a:srgbClr val="000000"/>
                </a:solidFill>
                <a:latin typeface="Open Sans"/>
                <a:ea typeface="Open Sans"/>
                <a:cs typeface="Open Sans"/>
                <a:sym typeface="Open Sans"/>
              </a:rPr>
              <a:t>St</a:t>
            </a:r>
            <a:r>
              <a:rPr lang="en-US" sz="3499" spc="-286">
                <a:solidFill>
                  <a:srgbClr val="000000"/>
                </a:solidFill>
                <a:latin typeface="Open Sans"/>
                <a:ea typeface="Open Sans"/>
                <a:cs typeface="Open Sans"/>
                <a:sym typeface="Open Sans"/>
              </a:rPr>
              <a:t>ep-by-step Process:</a:t>
            </a:r>
          </a:p>
          <a:p>
            <a:pPr algn="l" marL="755647" indent="-377824" lvl="1">
              <a:lnSpc>
                <a:spcPts val="4899"/>
              </a:lnSpc>
              <a:spcBef>
                <a:spcPct val="0"/>
              </a:spcBef>
              <a:buFont typeface="Arial"/>
              <a:buChar char="•"/>
            </a:pPr>
            <a:r>
              <a:rPr lang="en-US" sz="3499" spc="-286">
                <a:solidFill>
                  <a:srgbClr val="000000"/>
                </a:solidFill>
                <a:latin typeface="Open Sans"/>
                <a:ea typeface="Open Sans"/>
                <a:cs typeface="Open Sans"/>
                <a:sym typeface="Open Sans"/>
              </a:rPr>
              <a:t>Start with random weights in CNN</a:t>
            </a:r>
          </a:p>
          <a:p>
            <a:pPr algn="l" marL="755647" indent="-377824" lvl="1">
              <a:lnSpc>
                <a:spcPts val="4899"/>
              </a:lnSpc>
              <a:spcBef>
                <a:spcPct val="0"/>
              </a:spcBef>
              <a:buFont typeface="Arial"/>
              <a:buChar char="•"/>
            </a:pPr>
            <a:r>
              <a:rPr lang="en-US" sz="3499" spc="-286">
                <a:solidFill>
                  <a:srgbClr val="000000"/>
                </a:solidFill>
                <a:latin typeface="Open Sans"/>
                <a:ea typeface="Open Sans"/>
                <a:cs typeface="Open Sans"/>
                <a:sym typeface="Open Sans"/>
              </a:rPr>
              <a:t>Agent plays game, stores transitions in replay buffer</a:t>
            </a:r>
          </a:p>
          <a:p>
            <a:pPr algn="l" marL="755647" indent="-377824" lvl="1">
              <a:lnSpc>
                <a:spcPts val="4899"/>
              </a:lnSpc>
              <a:spcBef>
                <a:spcPct val="0"/>
              </a:spcBef>
              <a:buFont typeface="Arial"/>
              <a:buChar char="•"/>
            </a:pPr>
            <a:r>
              <a:rPr lang="en-US" sz="3499" spc="-286">
                <a:solidFill>
                  <a:srgbClr val="000000"/>
                </a:solidFill>
                <a:latin typeface="Open Sans"/>
                <a:ea typeface="Open Sans"/>
                <a:cs typeface="Open Sans"/>
                <a:sym typeface="Open Sans"/>
              </a:rPr>
              <a:t>Sample from buffer → train CNN to predict Q-values</a:t>
            </a:r>
          </a:p>
          <a:p>
            <a:pPr algn="l" marL="755647" indent="-377824" lvl="1">
              <a:lnSpc>
                <a:spcPts val="4899"/>
              </a:lnSpc>
              <a:spcBef>
                <a:spcPct val="0"/>
              </a:spcBef>
              <a:buFont typeface="Arial"/>
              <a:buChar char="•"/>
            </a:pPr>
            <a:r>
              <a:rPr lang="en-US" sz="3499" spc="-286">
                <a:solidFill>
                  <a:srgbClr val="000000"/>
                </a:solidFill>
                <a:latin typeface="Open Sans"/>
                <a:ea typeface="Open Sans"/>
                <a:cs typeface="Open Sans"/>
                <a:sym typeface="Open Sans"/>
              </a:rPr>
              <a:t>Use epsilon-greedy strategy to balance exploration vs. exploit</a:t>
            </a:r>
            <a:r>
              <a:rPr lang="en-US" sz="3499" spc="-286">
                <a:solidFill>
                  <a:srgbClr val="000000"/>
                </a:solidFill>
                <a:latin typeface="Open Sans"/>
                <a:ea typeface="Open Sans"/>
                <a:cs typeface="Open Sans"/>
                <a:sym typeface="Open Sans"/>
              </a:rPr>
              <a:t>ation</a:t>
            </a:r>
          </a:p>
          <a:p>
            <a:pPr algn="l" marL="755647" indent="-377824" lvl="1">
              <a:lnSpc>
                <a:spcPts val="4899"/>
              </a:lnSpc>
              <a:spcBef>
                <a:spcPct val="0"/>
              </a:spcBef>
              <a:buFont typeface="Arial"/>
              <a:buChar char="•"/>
            </a:pPr>
            <a:r>
              <a:rPr lang="en-US" sz="3499" spc="-286">
                <a:solidFill>
                  <a:srgbClr val="000000"/>
                </a:solidFill>
                <a:latin typeface="Open Sans"/>
                <a:ea typeface="Open Sans"/>
                <a:cs typeface="Open Sans"/>
                <a:sym typeface="Open Sans"/>
              </a:rPr>
              <a:t>S</a:t>
            </a:r>
            <a:r>
              <a:rPr lang="en-US" sz="3499" spc="-286">
                <a:solidFill>
                  <a:srgbClr val="000000"/>
                </a:solidFill>
                <a:latin typeface="Open Sans"/>
                <a:ea typeface="Open Sans"/>
                <a:cs typeface="Open Sans"/>
                <a:sym typeface="Open Sans"/>
              </a:rPr>
              <a:t>lowly update</a:t>
            </a:r>
            <a:r>
              <a:rPr lang="en-US" sz="3499" spc="-286">
                <a:solidFill>
                  <a:srgbClr val="000000"/>
                </a:solidFill>
                <a:latin typeface="Open Sans"/>
                <a:ea typeface="Open Sans"/>
                <a:cs typeface="Open Sans"/>
                <a:sym typeface="Open Sans"/>
              </a:rPr>
              <a:t> a separate target network for stability</a:t>
            </a:r>
          </a:p>
          <a:p>
            <a:pPr algn="l">
              <a:lnSpc>
                <a:spcPts val="4899"/>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308493" y="1323593"/>
            <a:ext cx="9144000" cy="778511"/>
          </a:xfrm>
          <a:prstGeom prst="rect">
            <a:avLst/>
          </a:prstGeom>
        </p:spPr>
        <p:txBody>
          <a:bodyPr anchor="t" rtlCol="false" tIns="0" lIns="0" bIns="0" rIns="0">
            <a:spAutoFit/>
          </a:bodyPr>
          <a:lstStyle/>
          <a:p>
            <a:pPr algn="l">
              <a:lnSpc>
                <a:spcPts val="6439"/>
              </a:lnSpc>
              <a:spcBef>
                <a:spcPct val="0"/>
              </a:spcBef>
            </a:pPr>
            <a:r>
              <a:rPr lang="en-US" b="true" sz="4599" spc="-377">
                <a:solidFill>
                  <a:srgbClr val="000000"/>
                </a:solidFill>
                <a:latin typeface="Comic Sans Bold"/>
                <a:ea typeface="Comic Sans Bold"/>
                <a:cs typeface="Comic Sans Bold"/>
                <a:sym typeface="Comic Sans Bold"/>
              </a:rPr>
              <a:t>Implementation Plan</a:t>
            </a:r>
          </a:p>
        </p:txBody>
      </p:sp>
      <p:sp>
        <p:nvSpPr>
          <p:cNvPr name="TextBox 3" id="3"/>
          <p:cNvSpPr txBox="true"/>
          <p:nvPr/>
        </p:nvSpPr>
        <p:spPr>
          <a:xfrm rot="0">
            <a:off x="1308493" y="2893066"/>
            <a:ext cx="13872723" cy="5540375"/>
          </a:xfrm>
          <a:prstGeom prst="rect">
            <a:avLst/>
          </a:prstGeom>
        </p:spPr>
        <p:txBody>
          <a:bodyPr anchor="t" rtlCol="false" tIns="0" lIns="0" bIns="0" rIns="0">
            <a:spAutoFit/>
          </a:bodyPr>
          <a:lstStyle/>
          <a:p>
            <a:pPr algn="l">
              <a:lnSpc>
                <a:spcPts val="4899"/>
              </a:lnSpc>
              <a:spcBef>
                <a:spcPct val="0"/>
              </a:spcBef>
            </a:pPr>
            <a:r>
              <a:rPr lang="en-US" sz="3499" spc="-286">
                <a:solidFill>
                  <a:srgbClr val="000000"/>
                </a:solidFill>
                <a:latin typeface="Comic Sans"/>
                <a:ea typeface="Comic Sans"/>
                <a:cs typeface="Comic Sans"/>
                <a:sym typeface="Comic Sans"/>
              </a:rPr>
              <a:t> Pl</a:t>
            </a:r>
            <a:r>
              <a:rPr lang="en-US" sz="3499" spc="-286">
                <a:solidFill>
                  <a:srgbClr val="000000"/>
                </a:solidFill>
                <a:latin typeface="Comic Sans"/>
                <a:ea typeface="Comic Sans"/>
                <a:cs typeface="Comic Sans"/>
                <a:sym typeface="Comic Sans"/>
              </a:rPr>
              <a:t>an A: Train a DQN agent on Breakout (short run with clipped rewards)</a:t>
            </a:r>
          </a:p>
          <a:p>
            <a:pPr algn="l">
              <a:lnSpc>
                <a:spcPts val="4899"/>
              </a:lnSpc>
              <a:spcBef>
                <a:spcPct val="0"/>
              </a:spcBef>
            </a:pPr>
            <a:r>
              <a:rPr lang="en-US" sz="3499" spc="-286">
                <a:solidFill>
                  <a:srgbClr val="000000"/>
                </a:solidFill>
                <a:latin typeface="Comic Sans"/>
                <a:ea typeface="Comic Sans"/>
                <a:cs typeface="Comic Sans"/>
                <a:sym typeface="Comic Sans"/>
              </a:rPr>
              <a:t> ✅ Pl</a:t>
            </a:r>
            <a:r>
              <a:rPr lang="en-US" sz="3499" spc="-286">
                <a:solidFill>
                  <a:srgbClr val="000000"/>
                </a:solidFill>
                <a:latin typeface="Comic Sans"/>
                <a:ea typeface="Comic Sans"/>
                <a:cs typeface="Comic Sans"/>
                <a:sym typeface="Comic Sans"/>
              </a:rPr>
              <a:t>an B: Use a pretrained agent (HuggingFace)  </a:t>
            </a:r>
          </a:p>
          <a:p>
            <a:pPr algn="l">
              <a:lnSpc>
                <a:spcPts val="4899"/>
              </a:lnSpc>
              <a:spcBef>
                <a:spcPct val="0"/>
              </a:spcBef>
            </a:pPr>
            <a:r>
              <a:rPr lang="en-US" sz="3499" spc="-286">
                <a:solidFill>
                  <a:srgbClr val="000000"/>
                </a:solidFill>
                <a:latin typeface="Comic Sans"/>
                <a:ea typeface="Comic Sans"/>
                <a:cs typeface="Comic Sans"/>
                <a:sym typeface="Comic Sans"/>
              </a:rPr>
              <a:t>(we chose this due to time constraints)</a:t>
            </a:r>
          </a:p>
          <a:p>
            <a:pPr algn="l">
              <a:lnSpc>
                <a:spcPts val="4899"/>
              </a:lnSpc>
              <a:spcBef>
                <a:spcPct val="0"/>
              </a:spcBef>
            </a:pPr>
          </a:p>
          <a:p>
            <a:pPr algn="l">
              <a:lnSpc>
                <a:spcPts val="4899"/>
              </a:lnSpc>
              <a:spcBef>
                <a:spcPct val="0"/>
              </a:spcBef>
            </a:pPr>
            <a:r>
              <a:rPr lang="en-US" sz="3499" spc="-286">
                <a:solidFill>
                  <a:srgbClr val="000000"/>
                </a:solidFill>
                <a:latin typeface="Comic Sans"/>
                <a:ea typeface="Comic Sans"/>
                <a:cs typeface="Comic Sans"/>
                <a:sym typeface="Comic Sans"/>
              </a:rPr>
              <a:t>  Evaluate performance:</a:t>
            </a:r>
          </a:p>
          <a:p>
            <a:pPr algn="l" marL="755647" indent="-377824" lvl="1">
              <a:lnSpc>
                <a:spcPts val="4899"/>
              </a:lnSpc>
              <a:spcBef>
                <a:spcPct val="0"/>
              </a:spcBef>
              <a:buFont typeface="Arial"/>
              <a:buChar char="•"/>
            </a:pPr>
            <a:r>
              <a:rPr lang="en-US" sz="3499" spc="-286">
                <a:solidFill>
                  <a:srgbClr val="000000"/>
                </a:solidFill>
                <a:latin typeface="Comic Sans"/>
                <a:ea typeface="Comic Sans"/>
                <a:cs typeface="Comic Sans"/>
                <a:sym typeface="Comic Sans"/>
              </a:rPr>
              <a:t>P</a:t>
            </a:r>
            <a:r>
              <a:rPr lang="en-US" sz="3499" spc="-286">
                <a:solidFill>
                  <a:srgbClr val="000000"/>
                </a:solidFill>
                <a:latin typeface="Comic Sans"/>
                <a:ea typeface="Comic Sans"/>
                <a:cs typeface="Comic Sans"/>
                <a:sym typeface="Comic Sans"/>
              </a:rPr>
              <a:t>lot episode rewards</a:t>
            </a:r>
          </a:p>
          <a:p>
            <a:pPr algn="l" marL="755647" indent="-377824" lvl="1">
              <a:lnSpc>
                <a:spcPts val="4899"/>
              </a:lnSpc>
              <a:spcBef>
                <a:spcPct val="0"/>
              </a:spcBef>
              <a:buFont typeface="Arial"/>
              <a:buChar char="•"/>
            </a:pPr>
            <a:r>
              <a:rPr lang="en-US" sz="3499" spc="-286">
                <a:solidFill>
                  <a:srgbClr val="000000"/>
                </a:solidFill>
                <a:latin typeface="Comic Sans"/>
                <a:ea typeface="Comic Sans"/>
                <a:cs typeface="Comic Sans"/>
                <a:sym typeface="Comic Sans"/>
              </a:rPr>
              <a:t>Record agent playing game</a:t>
            </a:r>
          </a:p>
          <a:p>
            <a:pPr algn="l" marL="755647" indent="-377824" lvl="1">
              <a:lnSpc>
                <a:spcPts val="4899"/>
              </a:lnSpc>
              <a:spcBef>
                <a:spcPct val="0"/>
              </a:spcBef>
              <a:buFont typeface="Arial"/>
              <a:buChar char="•"/>
            </a:pPr>
            <a:r>
              <a:rPr lang="en-US" sz="3499" spc="-286">
                <a:solidFill>
                  <a:srgbClr val="000000"/>
                </a:solidFill>
                <a:latin typeface="Comic Sans"/>
                <a:ea typeface="Comic Sans"/>
                <a:cs typeface="Comic Sans"/>
                <a:sym typeface="Comic Sans"/>
              </a:rPr>
              <a:t>Discuss key parameters (gamma, epsilon, learning rate)</a:t>
            </a:r>
          </a:p>
          <a:p>
            <a:pPr algn="l">
              <a:lnSpc>
                <a:spcPts val="4899"/>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308493" y="1323593"/>
            <a:ext cx="9144000" cy="778511"/>
          </a:xfrm>
          <a:prstGeom prst="rect">
            <a:avLst/>
          </a:prstGeom>
        </p:spPr>
        <p:txBody>
          <a:bodyPr anchor="t" rtlCol="false" tIns="0" lIns="0" bIns="0" rIns="0">
            <a:spAutoFit/>
          </a:bodyPr>
          <a:lstStyle/>
          <a:p>
            <a:pPr algn="l">
              <a:lnSpc>
                <a:spcPts val="6439"/>
              </a:lnSpc>
              <a:spcBef>
                <a:spcPct val="0"/>
              </a:spcBef>
            </a:pPr>
            <a:r>
              <a:rPr lang="en-US" b="true" sz="4599" spc="-377">
                <a:solidFill>
                  <a:srgbClr val="000000"/>
                </a:solidFill>
                <a:latin typeface="Comic Sans Bold"/>
                <a:ea typeface="Comic Sans Bold"/>
                <a:cs typeface="Comic Sans Bold"/>
                <a:sym typeface="Comic Sans Bold"/>
              </a:rPr>
              <a:t>Implementation Plan</a:t>
            </a:r>
          </a:p>
        </p:txBody>
      </p:sp>
      <p:sp>
        <p:nvSpPr>
          <p:cNvPr name="TextBox 3" id="3"/>
          <p:cNvSpPr txBox="true"/>
          <p:nvPr/>
        </p:nvSpPr>
        <p:spPr>
          <a:xfrm rot="0">
            <a:off x="1308493" y="2893066"/>
            <a:ext cx="13872723" cy="6778625"/>
          </a:xfrm>
          <a:prstGeom prst="rect">
            <a:avLst/>
          </a:prstGeom>
        </p:spPr>
        <p:txBody>
          <a:bodyPr anchor="t" rtlCol="false" tIns="0" lIns="0" bIns="0" rIns="0">
            <a:spAutoFit/>
          </a:bodyPr>
          <a:lstStyle/>
          <a:p>
            <a:pPr algn="l">
              <a:lnSpc>
                <a:spcPts val="4899"/>
              </a:lnSpc>
              <a:spcBef>
                <a:spcPct val="0"/>
              </a:spcBef>
            </a:pPr>
            <a:r>
              <a:rPr lang="en-US" sz="3499" spc="-286" u="sng">
                <a:solidFill>
                  <a:srgbClr val="000000"/>
                </a:solidFill>
                <a:latin typeface="Comic Sans"/>
                <a:ea typeface="Comic Sans"/>
                <a:cs typeface="Comic Sans"/>
                <a:sym typeface="Comic Sans"/>
              </a:rPr>
              <a:t>St</a:t>
            </a:r>
            <a:r>
              <a:rPr lang="en-US" sz="3499" spc="-286" u="sng">
                <a:solidFill>
                  <a:srgbClr val="000000"/>
                </a:solidFill>
                <a:latin typeface="Comic Sans"/>
                <a:ea typeface="Comic Sans"/>
                <a:cs typeface="Comic Sans"/>
                <a:sym typeface="Comic Sans"/>
              </a:rPr>
              <a:t>age 1: Environment Setup</a:t>
            </a:r>
          </a:p>
          <a:p>
            <a:pPr algn="l" marL="755647" indent="-377824" lvl="1">
              <a:lnSpc>
                <a:spcPts val="4899"/>
              </a:lnSpc>
              <a:spcBef>
                <a:spcPct val="0"/>
              </a:spcBef>
              <a:buFont typeface="Arial"/>
              <a:buChar char="•"/>
            </a:pPr>
            <a:r>
              <a:rPr lang="en-US" sz="3499" spc="-286">
                <a:solidFill>
                  <a:srgbClr val="000000"/>
                </a:solidFill>
                <a:latin typeface="Comic Sans"/>
                <a:ea typeface="Comic Sans"/>
                <a:cs typeface="Comic Sans"/>
                <a:sym typeface="Comic Sans"/>
              </a:rPr>
              <a:t>gym.make("BreakoutNoFrameskip-v4")</a:t>
            </a:r>
          </a:p>
          <a:p>
            <a:pPr algn="l" marL="755647" indent="-377824" lvl="1">
              <a:lnSpc>
                <a:spcPts val="4899"/>
              </a:lnSpc>
              <a:spcBef>
                <a:spcPct val="0"/>
              </a:spcBef>
              <a:buFont typeface="Arial"/>
              <a:buChar char="•"/>
            </a:pPr>
            <a:r>
              <a:rPr lang="en-US" sz="3499" spc="-286">
                <a:solidFill>
                  <a:srgbClr val="000000"/>
                </a:solidFill>
                <a:latin typeface="Comic Sans"/>
                <a:ea typeface="Comic Sans"/>
                <a:cs typeface="Comic Sans"/>
                <a:sym typeface="Comic Sans"/>
              </a:rPr>
              <a:t>Wrapped with wrap_deepmind() to standardize inputs</a:t>
            </a:r>
          </a:p>
          <a:p>
            <a:pPr algn="l">
              <a:lnSpc>
                <a:spcPts val="4899"/>
              </a:lnSpc>
              <a:spcBef>
                <a:spcPct val="0"/>
              </a:spcBef>
            </a:pPr>
            <a:r>
              <a:rPr lang="en-US" sz="3499" spc="-286" u="sng">
                <a:solidFill>
                  <a:srgbClr val="000000"/>
                </a:solidFill>
                <a:latin typeface="Comic Sans"/>
                <a:ea typeface="Comic Sans"/>
                <a:cs typeface="Comic Sans"/>
                <a:sym typeface="Comic Sans"/>
              </a:rPr>
              <a:t>Stage 2: Agent Setup</a:t>
            </a:r>
          </a:p>
          <a:p>
            <a:pPr algn="l" marL="755647" indent="-377824" lvl="1">
              <a:lnSpc>
                <a:spcPts val="4899"/>
              </a:lnSpc>
              <a:spcBef>
                <a:spcPct val="0"/>
              </a:spcBef>
              <a:buFont typeface="Arial"/>
              <a:buChar char="•"/>
            </a:pPr>
            <a:r>
              <a:rPr lang="en-US" sz="3499" spc="-286">
                <a:solidFill>
                  <a:srgbClr val="000000"/>
                </a:solidFill>
                <a:latin typeface="Comic Sans"/>
                <a:ea typeface="Comic Sans"/>
                <a:cs typeface="Comic Sans"/>
                <a:sym typeface="Comic Sans"/>
              </a:rPr>
              <a:t> Lo</a:t>
            </a:r>
            <a:r>
              <a:rPr lang="en-US" sz="3499" spc="-286" u="none">
                <a:solidFill>
                  <a:srgbClr val="000000"/>
                </a:solidFill>
                <a:latin typeface="Comic Sans"/>
                <a:ea typeface="Comic Sans"/>
                <a:cs typeface="Comic Sans"/>
                <a:sym typeface="Comic Sans"/>
              </a:rPr>
              <a:t>a</a:t>
            </a:r>
            <a:r>
              <a:rPr lang="en-US" sz="3499" spc="-286">
                <a:solidFill>
                  <a:srgbClr val="000000"/>
                </a:solidFill>
                <a:latin typeface="Comic Sans"/>
                <a:ea typeface="Comic Sans"/>
                <a:cs typeface="Comic Sans"/>
                <a:sym typeface="Comic Sans"/>
              </a:rPr>
              <a:t>d DQN usi</a:t>
            </a:r>
            <a:r>
              <a:rPr lang="en-US" sz="3499" spc="-286" u="none">
                <a:solidFill>
                  <a:srgbClr val="000000"/>
                </a:solidFill>
                <a:latin typeface="Comic Sans"/>
                <a:ea typeface="Comic Sans"/>
                <a:cs typeface="Comic Sans"/>
                <a:sym typeface="Comic Sans"/>
              </a:rPr>
              <a:t>n</a:t>
            </a:r>
            <a:r>
              <a:rPr lang="en-US" sz="3499" spc="-286">
                <a:solidFill>
                  <a:srgbClr val="000000"/>
                </a:solidFill>
                <a:latin typeface="Comic Sans"/>
                <a:ea typeface="Comic Sans"/>
                <a:cs typeface="Comic Sans"/>
                <a:sym typeface="Comic Sans"/>
              </a:rPr>
              <a:t>g</a:t>
            </a:r>
            <a:r>
              <a:rPr lang="en-US" sz="3499" spc="-286" u="none">
                <a:solidFill>
                  <a:srgbClr val="000000"/>
                </a:solidFill>
                <a:latin typeface="Comic Sans"/>
                <a:ea typeface="Comic Sans"/>
                <a:cs typeface="Comic Sans"/>
                <a:sym typeface="Comic Sans"/>
              </a:rPr>
              <a:t> </a:t>
            </a:r>
            <a:r>
              <a:rPr lang="en-US" sz="3499" spc="-286">
                <a:solidFill>
                  <a:srgbClr val="000000"/>
                </a:solidFill>
                <a:latin typeface="Comic Sans"/>
                <a:ea typeface="Comic Sans"/>
                <a:cs typeface="Comic Sans"/>
                <a:sym typeface="Comic Sans"/>
              </a:rPr>
              <a:t>load_from_hub</a:t>
            </a:r>
            <a:r>
              <a:rPr lang="en-US" sz="3499" spc="-286" u="none">
                <a:solidFill>
                  <a:srgbClr val="000000"/>
                </a:solidFill>
                <a:latin typeface="Comic Sans"/>
                <a:ea typeface="Comic Sans"/>
                <a:cs typeface="Comic Sans"/>
                <a:sym typeface="Comic Sans"/>
              </a:rPr>
              <a:t>(</a:t>
            </a:r>
            <a:r>
              <a:rPr lang="en-US" sz="3499" spc="-286">
                <a:solidFill>
                  <a:srgbClr val="000000"/>
                </a:solidFill>
                <a:latin typeface="Comic Sans"/>
                <a:ea typeface="Comic Sans"/>
                <a:cs typeface="Comic Sans"/>
                <a:sym typeface="Comic Sans"/>
              </a:rPr>
              <a:t>) from </a:t>
            </a:r>
            <a:r>
              <a:rPr lang="en-US" sz="3499" spc="-286" u="none">
                <a:solidFill>
                  <a:srgbClr val="000000"/>
                </a:solidFill>
                <a:latin typeface="Comic Sans"/>
                <a:ea typeface="Comic Sans"/>
                <a:cs typeface="Comic Sans"/>
                <a:sym typeface="Comic Sans"/>
              </a:rPr>
              <a:t>Hugging</a:t>
            </a:r>
            <a:r>
              <a:rPr lang="en-US" sz="3499" spc="-286">
                <a:solidFill>
                  <a:srgbClr val="000000"/>
                </a:solidFill>
                <a:latin typeface="Comic Sans"/>
                <a:ea typeface="Comic Sans"/>
                <a:cs typeface="Comic Sans"/>
                <a:sym typeface="Comic Sans"/>
              </a:rPr>
              <a:t> </a:t>
            </a:r>
            <a:r>
              <a:rPr lang="en-US" sz="3499" spc="-286" u="none">
                <a:solidFill>
                  <a:srgbClr val="000000"/>
                </a:solidFill>
                <a:latin typeface="Comic Sans"/>
                <a:ea typeface="Comic Sans"/>
                <a:cs typeface="Comic Sans"/>
                <a:sym typeface="Comic Sans"/>
              </a:rPr>
              <a:t>Face</a:t>
            </a:r>
          </a:p>
          <a:p>
            <a:pPr algn="l" marL="755647" indent="-377824" lvl="1">
              <a:lnSpc>
                <a:spcPts val="4899"/>
              </a:lnSpc>
              <a:spcBef>
                <a:spcPct val="0"/>
              </a:spcBef>
              <a:buFont typeface="Arial"/>
              <a:buChar char="•"/>
            </a:pPr>
            <a:r>
              <a:rPr lang="en-US" sz="3499" spc="-286">
                <a:solidFill>
                  <a:srgbClr val="000000"/>
                </a:solidFill>
                <a:latin typeface="Comic Sans"/>
                <a:ea typeface="Comic Sans"/>
                <a:cs typeface="Comic Sans"/>
                <a:sym typeface="Comic Sans"/>
              </a:rPr>
              <a:t>Us</a:t>
            </a:r>
            <a:r>
              <a:rPr lang="en-US" sz="3499" spc="-286">
                <a:solidFill>
                  <a:srgbClr val="000000"/>
                </a:solidFill>
                <a:latin typeface="Comic Sans"/>
                <a:ea typeface="Comic Sans"/>
                <a:cs typeface="Comic Sans"/>
                <a:sym typeface="Comic Sans"/>
              </a:rPr>
              <a:t>e</a:t>
            </a:r>
            <a:r>
              <a:rPr lang="en-US" sz="3499" spc="-286">
                <a:solidFill>
                  <a:srgbClr val="000000"/>
                </a:solidFill>
                <a:latin typeface="Comic Sans"/>
                <a:ea typeface="Comic Sans"/>
                <a:cs typeface="Comic Sans"/>
                <a:sym typeface="Comic Sans"/>
              </a:rPr>
              <a:t> CnnPolicy to process raw frames</a:t>
            </a:r>
          </a:p>
          <a:p>
            <a:pPr algn="l">
              <a:lnSpc>
                <a:spcPts val="4899"/>
              </a:lnSpc>
              <a:spcBef>
                <a:spcPct val="0"/>
              </a:spcBef>
            </a:pPr>
            <a:r>
              <a:rPr lang="en-US" sz="3499" spc="-286" u="sng">
                <a:solidFill>
                  <a:srgbClr val="000000"/>
                </a:solidFill>
                <a:latin typeface="Comic Sans"/>
                <a:ea typeface="Comic Sans"/>
                <a:cs typeface="Comic Sans"/>
                <a:sym typeface="Comic Sans"/>
              </a:rPr>
              <a:t>Stage 3: Eva</a:t>
            </a:r>
            <a:r>
              <a:rPr lang="en-US" sz="3499" spc="-286" u="sng">
                <a:solidFill>
                  <a:srgbClr val="000000"/>
                </a:solidFill>
                <a:latin typeface="Comic Sans"/>
                <a:ea typeface="Comic Sans"/>
                <a:cs typeface="Comic Sans"/>
                <a:sym typeface="Comic Sans"/>
              </a:rPr>
              <a:t>luation</a:t>
            </a:r>
          </a:p>
          <a:p>
            <a:pPr algn="l" marL="755647" indent="-377824" lvl="1">
              <a:lnSpc>
                <a:spcPts val="4899"/>
              </a:lnSpc>
              <a:spcBef>
                <a:spcPct val="0"/>
              </a:spcBef>
              <a:buFont typeface="Arial"/>
              <a:buChar char="•"/>
            </a:pPr>
            <a:r>
              <a:rPr lang="en-US" sz="3499" spc="-286">
                <a:solidFill>
                  <a:srgbClr val="000000"/>
                </a:solidFill>
                <a:latin typeface="Comic Sans"/>
                <a:ea typeface="Comic Sans"/>
                <a:cs typeface="Comic Sans"/>
                <a:sym typeface="Comic Sans"/>
              </a:rPr>
              <a:t>Run a few episodes, collect rewards</a:t>
            </a:r>
          </a:p>
          <a:p>
            <a:pPr algn="l" marL="755647" indent="-377824" lvl="1">
              <a:lnSpc>
                <a:spcPts val="4899"/>
              </a:lnSpc>
              <a:spcBef>
                <a:spcPct val="0"/>
              </a:spcBef>
              <a:buFont typeface="Arial"/>
              <a:buChar char="•"/>
            </a:pPr>
            <a:r>
              <a:rPr lang="en-US" sz="3499" spc="-286">
                <a:solidFill>
                  <a:srgbClr val="000000"/>
                </a:solidFill>
                <a:latin typeface="Comic Sans"/>
                <a:ea typeface="Comic Sans"/>
                <a:cs typeface="Comic Sans"/>
                <a:sym typeface="Comic Sans"/>
              </a:rPr>
              <a:t>Record gameplay using VecVideoRecorder</a:t>
            </a:r>
          </a:p>
          <a:p>
            <a:pPr algn="l" marL="755647" indent="-377824" lvl="1">
              <a:lnSpc>
                <a:spcPts val="4899"/>
              </a:lnSpc>
              <a:spcBef>
                <a:spcPct val="0"/>
              </a:spcBef>
              <a:buFont typeface="Arial"/>
              <a:buChar char="•"/>
            </a:pPr>
            <a:r>
              <a:rPr lang="en-US" sz="3499" spc="-286">
                <a:solidFill>
                  <a:srgbClr val="000000"/>
                </a:solidFill>
                <a:latin typeface="Comic Sans"/>
                <a:ea typeface="Comic Sans"/>
                <a:cs typeface="Comic Sans"/>
                <a:sym typeface="Comic Sans"/>
              </a:rPr>
              <a:t>Plot cumulative rewards (planned using matplotlib)</a:t>
            </a:r>
          </a:p>
          <a:p>
            <a:pPr algn="l">
              <a:lnSpc>
                <a:spcPts val="4899"/>
              </a:lnSpc>
              <a:spcBef>
                <a:spcPct val="0"/>
              </a:spcBef>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2930807"/>
            <a:ext cx="15785687" cy="4973952"/>
          </a:xfrm>
          <a:custGeom>
            <a:avLst/>
            <a:gdLst/>
            <a:ahLst/>
            <a:cxnLst/>
            <a:rect r="r" b="b" t="t" l="l"/>
            <a:pathLst>
              <a:path h="4973952" w="15785687">
                <a:moveTo>
                  <a:pt x="0" y="0"/>
                </a:moveTo>
                <a:lnTo>
                  <a:pt x="15785687" y="0"/>
                </a:lnTo>
                <a:lnTo>
                  <a:pt x="15785687" y="4973952"/>
                </a:lnTo>
                <a:lnTo>
                  <a:pt x="0" y="4973952"/>
                </a:lnTo>
                <a:lnTo>
                  <a:pt x="0" y="0"/>
                </a:lnTo>
                <a:close/>
              </a:path>
            </a:pathLst>
          </a:custGeom>
          <a:blipFill>
            <a:blip r:embed="rId3"/>
            <a:stretch>
              <a:fillRect l="0" t="-14648" r="0" b="0"/>
            </a:stretch>
          </a:blipFill>
        </p:spPr>
      </p:sp>
      <p:sp>
        <p:nvSpPr>
          <p:cNvPr name="TextBox 3" id="3"/>
          <p:cNvSpPr txBox="true"/>
          <p:nvPr/>
        </p:nvSpPr>
        <p:spPr>
          <a:xfrm rot="0">
            <a:off x="1028700" y="1368613"/>
            <a:ext cx="9144000" cy="778511"/>
          </a:xfrm>
          <a:prstGeom prst="rect">
            <a:avLst/>
          </a:prstGeom>
        </p:spPr>
        <p:txBody>
          <a:bodyPr anchor="t" rtlCol="false" tIns="0" lIns="0" bIns="0" rIns="0">
            <a:spAutoFit/>
          </a:bodyPr>
          <a:lstStyle/>
          <a:p>
            <a:pPr algn="l">
              <a:lnSpc>
                <a:spcPts val="6439"/>
              </a:lnSpc>
              <a:spcBef>
                <a:spcPct val="0"/>
              </a:spcBef>
            </a:pPr>
            <a:r>
              <a:rPr lang="en-US" b="true" sz="4599" spc="-377">
                <a:solidFill>
                  <a:srgbClr val="000000"/>
                </a:solidFill>
                <a:latin typeface="Comic Sans Bold"/>
                <a:ea typeface="Comic Sans Bold"/>
                <a:cs typeface="Comic Sans Bold"/>
                <a:sym typeface="Comic Sans Bold"/>
              </a:rPr>
              <a:t>Inputs and outputs </a:t>
            </a:r>
          </a:p>
        </p:txBody>
      </p:sp>
    </p:spTree>
  </p:cSld>
  <p:clrMapOvr>
    <a:masterClrMapping/>
  </p:clrMapOvr>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2584155"/>
            <a:ext cx="11620104" cy="778511"/>
          </a:xfrm>
          <a:prstGeom prst="rect">
            <a:avLst/>
          </a:prstGeom>
        </p:spPr>
        <p:txBody>
          <a:bodyPr anchor="t" rtlCol="false" tIns="0" lIns="0" bIns="0" rIns="0">
            <a:spAutoFit/>
          </a:bodyPr>
          <a:lstStyle/>
          <a:p>
            <a:pPr algn="l">
              <a:lnSpc>
                <a:spcPts val="6439"/>
              </a:lnSpc>
              <a:spcBef>
                <a:spcPct val="0"/>
              </a:spcBef>
            </a:pPr>
            <a:r>
              <a:rPr lang="en-US" b="true" sz="4599" spc="-377">
                <a:solidFill>
                  <a:srgbClr val="000000"/>
                </a:solidFill>
                <a:latin typeface="Comic Sans Bold"/>
                <a:ea typeface="Comic Sans Bold"/>
                <a:cs typeface="Comic Sans Bold"/>
                <a:sym typeface="Comic Sans Bold"/>
              </a:rPr>
              <a:t>What i would have done if i had more time</a:t>
            </a:r>
          </a:p>
        </p:txBody>
      </p:sp>
      <p:sp>
        <p:nvSpPr>
          <p:cNvPr name="TextBox 3" id="3"/>
          <p:cNvSpPr txBox="true"/>
          <p:nvPr/>
        </p:nvSpPr>
        <p:spPr>
          <a:xfrm rot="0">
            <a:off x="1028700" y="4235853"/>
            <a:ext cx="13872723" cy="4302125"/>
          </a:xfrm>
          <a:prstGeom prst="rect">
            <a:avLst/>
          </a:prstGeom>
        </p:spPr>
        <p:txBody>
          <a:bodyPr anchor="t" rtlCol="false" tIns="0" lIns="0" bIns="0" rIns="0">
            <a:spAutoFit/>
          </a:bodyPr>
          <a:lstStyle/>
          <a:p>
            <a:pPr algn="l" marL="755647" indent="-377824" lvl="1">
              <a:lnSpc>
                <a:spcPts val="4899"/>
              </a:lnSpc>
              <a:spcBef>
                <a:spcPct val="0"/>
              </a:spcBef>
              <a:buFont typeface="Arial"/>
              <a:buChar char="•"/>
            </a:pPr>
            <a:r>
              <a:rPr lang="en-US" sz="3499" spc="-286">
                <a:solidFill>
                  <a:srgbClr val="000000"/>
                </a:solidFill>
                <a:latin typeface="Comic Sans"/>
                <a:ea typeface="Comic Sans"/>
                <a:cs typeface="Comic Sans"/>
                <a:sym typeface="Comic Sans"/>
              </a:rPr>
              <a:t>C</a:t>
            </a:r>
            <a:r>
              <a:rPr lang="en-US" sz="3499" spc="-286">
                <a:solidFill>
                  <a:srgbClr val="000000"/>
                </a:solidFill>
                <a:latin typeface="Comic Sans"/>
                <a:ea typeface="Comic Sans"/>
                <a:cs typeface="Comic Sans"/>
                <a:sym typeface="Comic Sans"/>
              </a:rPr>
              <a:t>omplete the evaluation code and run episodes</a:t>
            </a:r>
          </a:p>
          <a:p>
            <a:pPr algn="l" marL="755647" indent="-377824" lvl="1">
              <a:lnSpc>
                <a:spcPts val="4899"/>
              </a:lnSpc>
              <a:spcBef>
                <a:spcPct val="0"/>
              </a:spcBef>
              <a:buFont typeface="Arial"/>
              <a:buChar char="•"/>
            </a:pPr>
            <a:r>
              <a:rPr lang="en-US" sz="3499" spc="-286">
                <a:solidFill>
                  <a:srgbClr val="000000"/>
                </a:solidFill>
                <a:latin typeface="Comic Sans"/>
                <a:ea typeface="Comic Sans"/>
                <a:cs typeface="Comic Sans"/>
                <a:sym typeface="Comic Sans"/>
              </a:rPr>
              <a:t>R</a:t>
            </a:r>
            <a:r>
              <a:rPr lang="en-US" sz="3499" spc="-286">
                <a:solidFill>
                  <a:srgbClr val="000000"/>
                </a:solidFill>
                <a:latin typeface="Comic Sans"/>
                <a:ea typeface="Comic Sans"/>
                <a:cs typeface="Comic Sans"/>
                <a:sym typeface="Comic Sans"/>
              </a:rPr>
              <a:t>ecord gameplay video</a:t>
            </a:r>
          </a:p>
          <a:p>
            <a:pPr algn="l" marL="755647" indent="-377824" lvl="1">
              <a:lnSpc>
                <a:spcPts val="4899"/>
              </a:lnSpc>
              <a:spcBef>
                <a:spcPct val="0"/>
              </a:spcBef>
              <a:buFont typeface="Arial"/>
              <a:buChar char="•"/>
            </a:pPr>
            <a:r>
              <a:rPr lang="en-US" sz="3499" spc="-286">
                <a:solidFill>
                  <a:srgbClr val="000000"/>
                </a:solidFill>
                <a:latin typeface="Comic Sans"/>
                <a:ea typeface="Comic Sans"/>
                <a:cs typeface="Comic Sans"/>
                <a:sym typeface="Comic Sans"/>
              </a:rPr>
              <a:t>Plot reward curves and training stat</a:t>
            </a:r>
            <a:r>
              <a:rPr lang="en-US" sz="3499" spc="-286">
                <a:solidFill>
                  <a:srgbClr val="000000"/>
                </a:solidFill>
                <a:latin typeface="Comic Sans"/>
                <a:ea typeface="Comic Sans"/>
                <a:cs typeface="Comic Sans"/>
                <a:sym typeface="Comic Sans"/>
              </a:rPr>
              <a:t>s</a:t>
            </a:r>
          </a:p>
          <a:p>
            <a:pPr algn="l" marL="755647" indent="-377824" lvl="1">
              <a:lnSpc>
                <a:spcPts val="4899"/>
              </a:lnSpc>
              <a:spcBef>
                <a:spcPct val="0"/>
              </a:spcBef>
              <a:buFont typeface="Arial"/>
              <a:buChar char="•"/>
            </a:pPr>
            <a:r>
              <a:rPr lang="en-US" sz="3499" spc="-286">
                <a:solidFill>
                  <a:srgbClr val="000000"/>
                </a:solidFill>
                <a:latin typeface="Comic Sans"/>
                <a:ea typeface="Comic Sans"/>
                <a:cs typeface="Comic Sans"/>
                <a:sym typeface="Comic Sans"/>
              </a:rPr>
              <a:t>Experiment with:</a:t>
            </a:r>
          </a:p>
          <a:p>
            <a:pPr algn="l" marL="1511295" indent="-503765" lvl="2">
              <a:lnSpc>
                <a:spcPts val="4899"/>
              </a:lnSpc>
              <a:spcBef>
                <a:spcPct val="0"/>
              </a:spcBef>
              <a:buFont typeface="Arial"/>
              <a:buChar char="⚬"/>
            </a:pPr>
            <a:r>
              <a:rPr lang="en-US" sz="3499" spc="-286">
                <a:solidFill>
                  <a:srgbClr val="000000"/>
                </a:solidFill>
                <a:latin typeface="Comic Sans"/>
                <a:ea typeface="Comic Sans"/>
                <a:cs typeface="Comic Sans"/>
                <a:sym typeface="Comic Sans"/>
              </a:rPr>
              <a:t>C</a:t>
            </a:r>
            <a:r>
              <a:rPr lang="en-US" sz="3499" spc="-286">
                <a:solidFill>
                  <a:srgbClr val="000000"/>
                </a:solidFill>
                <a:latin typeface="Comic Sans"/>
                <a:ea typeface="Comic Sans"/>
                <a:cs typeface="Comic Sans"/>
                <a:sym typeface="Comic Sans"/>
              </a:rPr>
              <a:t>ustom DQN hyperparameters</a:t>
            </a:r>
          </a:p>
          <a:p>
            <a:pPr algn="l" marL="1511295" indent="-503765" lvl="2">
              <a:lnSpc>
                <a:spcPts val="4899"/>
              </a:lnSpc>
              <a:spcBef>
                <a:spcPct val="0"/>
              </a:spcBef>
              <a:buFont typeface="Arial"/>
              <a:buChar char="⚬"/>
            </a:pPr>
            <a:r>
              <a:rPr lang="en-US" sz="3499" spc="-286">
                <a:solidFill>
                  <a:srgbClr val="000000"/>
                </a:solidFill>
                <a:latin typeface="Comic Sans"/>
                <a:ea typeface="Comic Sans"/>
                <a:cs typeface="Comic Sans"/>
                <a:sym typeface="Comic Sans"/>
              </a:rPr>
              <a:t>Fin</a:t>
            </a:r>
            <a:r>
              <a:rPr lang="en-US" sz="3499" spc="-286">
                <a:solidFill>
                  <a:srgbClr val="000000"/>
                </a:solidFill>
                <a:latin typeface="Comic Sans"/>
                <a:ea typeface="Comic Sans"/>
                <a:cs typeface="Comic Sans"/>
                <a:sym typeface="Comic Sans"/>
              </a:rPr>
              <a:t>e-tuning on top of the pretrained model</a:t>
            </a:r>
          </a:p>
          <a:p>
            <a:pPr algn="l">
              <a:lnSpc>
                <a:spcPts val="4899"/>
              </a:lnSpc>
              <a:spcBef>
                <a:spcPct val="0"/>
              </a:spcBef>
            </a:pPr>
          </a:p>
        </p:txBody>
      </p:sp>
      <p:sp>
        <p:nvSpPr>
          <p:cNvPr name="TextBox 4" id="4"/>
          <p:cNvSpPr txBox="true"/>
          <p:nvPr/>
        </p:nvSpPr>
        <p:spPr>
          <a:xfrm rot="0">
            <a:off x="1028700" y="981075"/>
            <a:ext cx="11749254" cy="1445595"/>
          </a:xfrm>
          <a:prstGeom prst="rect">
            <a:avLst/>
          </a:prstGeom>
        </p:spPr>
        <p:txBody>
          <a:bodyPr anchor="t" rtlCol="false" tIns="0" lIns="0" bIns="0" rIns="0">
            <a:spAutoFit/>
          </a:bodyPr>
          <a:lstStyle/>
          <a:p>
            <a:pPr algn="just">
              <a:lnSpc>
                <a:spcPts val="3873"/>
              </a:lnSpc>
            </a:pPr>
            <a:r>
              <a:rPr lang="en-US" sz="2766" spc="-226">
                <a:solidFill>
                  <a:srgbClr val="000000"/>
                </a:solidFill>
                <a:latin typeface="Comic Sans"/>
                <a:ea typeface="Comic Sans"/>
                <a:cs typeface="Comic Sans"/>
                <a:sym typeface="Comic Sans"/>
              </a:rPr>
              <a:t>I was not able to get the code running due to time constraints</a:t>
            </a:r>
          </a:p>
          <a:p>
            <a:pPr algn="just">
              <a:lnSpc>
                <a:spcPts val="3873"/>
              </a:lnSpc>
              <a:spcBef>
                <a:spcPct val="0"/>
              </a:spcBef>
            </a:pPr>
            <a:r>
              <a:rPr lang="en-US" sz="2766" spc="-226">
                <a:solidFill>
                  <a:srgbClr val="000000"/>
                </a:solidFill>
                <a:latin typeface="Comic Sans"/>
                <a:ea typeface="Comic Sans"/>
                <a:cs typeface="Comic Sans"/>
                <a:sym typeface="Comic Sans"/>
              </a:rPr>
              <a:t>i was not able to complete setting up the environment but</a:t>
            </a:r>
          </a:p>
          <a:p>
            <a:pPr algn="just">
              <a:lnSpc>
                <a:spcPts val="3873"/>
              </a:lnSpc>
              <a:spcBef>
                <a:spcPct val="0"/>
              </a:spcBef>
            </a:pPr>
          </a:p>
        </p:txBody>
      </p:sp>
    </p:spTree>
  </p:cSld>
  <p:clrMapOvr>
    <a:masterClrMapping/>
  </p:clrMapOvr>
</p:sld>
</file>

<file path=ppt/slides/slide17.xml><?xml version="1.0" encoding="utf-8"?>
<p:sld xmlns:p="http://schemas.openxmlformats.org/presentationml/2006/main" xmlns:a="http://schemas.openxmlformats.org/drawingml/2006/main">
  <p:cSld>
    <p:bg>
      <p:bgPr>
        <a:solidFill>
          <a:srgbClr val="AAD7D4"/>
        </a:solidFill>
      </p:bgPr>
    </p:bg>
    <p:spTree>
      <p:nvGrpSpPr>
        <p:cNvPr id="1" name=""/>
        <p:cNvGrpSpPr/>
        <p:nvPr/>
      </p:nvGrpSpPr>
      <p:grpSpPr>
        <a:xfrm>
          <a:off x="0" y="0"/>
          <a:ext cx="0" cy="0"/>
          <a:chOff x="0" y="0"/>
          <a:chExt cx="0" cy="0"/>
        </a:xfrm>
      </p:grpSpPr>
      <p:sp>
        <p:nvSpPr>
          <p:cNvPr name="TextBox 2" id="2"/>
          <p:cNvSpPr txBox="true"/>
          <p:nvPr/>
        </p:nvSpPr>
        <p:spPr>
          <a:xfrm rot="0">
            <a:off x="4688839" y="2985427"/>
            <a:ext cx="8910321" cy="2158073"/>
          </a:xfrm>
          <a:prstGeom prst="rect">
            <a:avLst/>
          </a:prstGeom>
        </p:spPr>
        <p:txBody>
          <a:bodyPr anchor="t" rtlCol="false" tIns="0" lIns="0" bIns="0" rIns="0">
            <a:spAutoFit/>
          </a:bodyPr>
          <a:lstStyle/>
          <a:p>
            <a:pPr algn="ctr">
              <a:lnSpc>
                <a:spcPts val="7816"/>
              </a:lnSpc>
            </a:pPr>
            <a:r>
              <a:rPr lang="en-US" b="true" sz="8984">
                <a:solidFill>
                  <a:srgbClr val="1C2120"/>
                </a:solidFill>
                <a:latin typeface="Poppins Bold"/>
                <a:ea typeface="Poppins Bold"/>
                <a:cs typeface="Poppins Bold"/>
                <a:sym typeface="Poppins Bold"/>
              </a:rPr>
              <a:t>Thank you very much!</a:t>
            </a:r>
          </a:p>
        </p:txBody>
      </p:sp>
      <p:sp>
        <p:nvSpPr>
          <p:cNvPr name="TextBox 3" id="3"/>
          <p:cNvSpPr txBox="true"/>
          <p:nvPr/>
        </p:nvSpPr>
        <p:spPr>
          <a:xfrm rot="0">
            <a:off x="5691194" y="5427349"/>
            <a:ext cx="6617965" cy="569475"/>
          </a:xfrm>
          <a:prstGeom prst="rect">
            <a:avLst/>
          </a:prstGeom>
        </p:spPr>
        <p:txBody>
          <a:bodyPr anchor="t" rtlCol="false" tIns="0" lIns="0" bIns="0" rIns="0">
            <a:spAutoFit/>
          </a:bodyPr>
          <a:lstStyle/>
          <a:p>
            <a:pPr algn="ctr">
              <a:lnSpc>
                <a:spcPts val="4045"/>
              </a:lnSpc>
            </a:pPr>
            <a:r>
              <a:rPr lang="en-US" sz="4045" spc="-80">
                <a:solidFill>
                  <a:srgbClr val="1C2120"/>
                </a:solidFill>
                <a:latin typeface="Poppins"/>
                <a:ea typeface="Poppins"/>
                <a:cs typeface="Poppins"/>
                <a:sym typeface="Poppins"/>
              </a:rPr>
              <a:t>ANY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DAGopEqNkm8</dc:identifier>
  <dcterms:modified xsi:type="dcterms:W3CDTF">2011-08-01T06:04:30Z</dcterms:modified>
  <cp:revision>1</cp:revision>
  <dc:title>Deep RL : EFFDL Topics in Machine Learning</dc:title>
</cp:coreProperties>
</file>